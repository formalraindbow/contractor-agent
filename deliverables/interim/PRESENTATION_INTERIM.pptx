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40080" y="1097280"/>
            <a:ext cx="1463040" cy="1463040"/>
          </a:xfrm>
          <a:prstGeom prst="ellipse">
            <a:avLst/>
          </a:prstGeom>
          <a:solidFill>
            <a:srgbClr val="2E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651760" y="3291840"/>
            <a:ext cx="1371600" cy="1371600"/>
          </a:xfrm>
          <a:prstGeom prst="rect">
            <a:avLst/>
          </a:prstGeom>
          <a:solidFill>
            <a:srgbClr val="2E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4572000"/>
            <a:ext cx="914400" cy="914400"/>
          </a:xfrm>
          <a:prstGeom prst="ellipse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9C6E8"/>
                </a:solidFill>
                <a:latin typeface="Calibri"/>
              </a:rPr>
              <a:t>АЛЬФА-БАНК · КЕЙС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6400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F3124"/>
                </a:solidFill>
                <a:latin typeface="Calibri"/>
              </a:rPr>
              <a:t>AI PRODUCT HACK 2026 · ПРОМЕЖУТОЧНАЯ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583680" cy="23774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B1F3B"/>
                </a:solidFill>
                <a:latin typeface="Calibri"/>
              </a:rPr>
              <a:t>Агент для проверки контрагента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A6470"/>
                </a:solidFill>
                <a:latin typeface="Calibri"/>
              </a:rPr>
              <a:t>Читает отчёт банка о компании и говорит предпринимателю, на каких условиях с ней работать и какие факты за этим стоят.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4343400"/>
            <a:ext cx="1463040" cy="54864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80" y="4526280"/>
            <a:ext cx="640080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Команда 10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Владимир Тимошенко · продукт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Владимир Линьков · пользовательский опыт и критерии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Алан Толпаров · код и проверка качества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name="adj" fmla="val 4705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108960" cy="2057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F3B"/>
                </a:solidFill>
                <a:latin typeface="Calibri"/>
              </a:rPr>
              <a:t>Отчёт большой, суть искать самому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Отчёт банка о контрагенте: девять разделов, десятки страниц. Финансы, суды, долги у приставов, реестры. Предприниматель читает всё сам или смотрит только на оценку риска сверху.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63040"/>
            <a:ext cx="3566160" cy="2331720"/>
          </a:xfrm>
          <a:prstGeom prst="roundRect">
            <a:avLst>
              <a:gd name="adj" fmla="val 4705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44568" y="1645920"/>
            <a:ext cx="3108960" cy="2057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F3B"/>
                </a:solidFill>
                <a:latin typeface="Calibri"/>
              </a:rPr>
              <a:t>Главное может быть спрятано внизу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У 6 компаний из 200 в тестовой выгрузке оценка сверху зелёная, а внизу отчёта написано: банкрот или исключается из реестра. Готовые подсказки в отчёте об этом молчат.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566160" cy="2331720"/>
          </a:xfrm>
          <a:prstGeom prst="roundRect">
            <a:avLst>
              <a:gd name="adj" fmla="val 4705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11896" y="1645920"/>
            <a:ext cx="3108960" cy="2057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F3B"/>
                </a:solidFill>
                <a:latin typeface="Calibri"/>
              </a:rPr>
              <a:t>Контрагентов часто несколько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Выбирая поставщика, предприниматель получает несколько отчётов. Сравнивать их вручную ещё дольше, а ответ нужен простой: с кем работать, с кем на условиях, с кем не стоит.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100816" cy="1920240"/>
          </a:xfrm>
          <a:prstGeom prst="roundRect">
            <a:avLst>
              <a:gd name="adj" fmla="val 5714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4279392"/>
            <a:ext cx="10552176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Что делает агент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8F0"/>
                </a:solidFill>
                <a:latin typeface="Calibri"/>
              </a:rPr>
              <a:t>Читает отчёт за пользователя, находит главное и говорит, на каких условиях работать с компанией и какие факты за этим стоят. Если контрагентов несколько, сравнивает их и говорит, кого выбрать. Каждое утверждение со ссылкой на место в отчёте, поэтому вывод можно проверить.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Что должен делать 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100816" cy="1234440"/>
          </a:xfrm>
          <a:prstGeom prst="roundRect">
            <a:avLst>
              <a:gd name="adj" fmla="val 8888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1060704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C6E8"/>
                </a:solidFill>
                <a:latin typeface="Calibri"/>
              </a:rPr>
              <a:t>ЦЕЛЬ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Из отчёта банка о компании сделать короткий вывод с фактами, отвечать на вопросы о ней и сравнивать несколько компаний, не выдумывая ничего сверх отчёта.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ЧТО ВХОДИТ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832"/>
            <a:ext cx="4709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Короткий вывод по компании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Оценки банка как есть, дата отчёта, два-три решающих факта со ссылкой на место в отчёте и рекомендация: можно работать, стоит проверить, работать на условиях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24612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3319272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27832"/>
            <a:ext cx="4709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Ответы на вопросы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Сколько судов, есть ли долги, что с отчётностью. Только по отчёту, с указанием поля. Агент помнит, о какой компании идёт разговор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4645152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53712"/>
            <a:ext cx="4709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Честный отказ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Если сведений в отчёте нет, агент так и говорит. «Нет данных» не значит «нет нарушений»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457200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3640" y="4645152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553712"/>
            <a:ext cx="4709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Сравнение нескольких компаний · в работе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Пользователь загружает несколько отчётов и получает вывод, кого выбрать и с кем не стоит. Без рейтингов и баллов, как просил кейсодатель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100816" cy="566928"/>
          </a:xfrm>
          <a:prstGeom prst="roundRect">
            <a:avLst>
              <a:gd name="adj" fmla="val 19354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6070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1F3B"/>
                </a:solidFill>
                <a:latin typeface="Calibri"/>
              </a:rPr>
              <a:t>Чего не делает: не пересчитывает и не объясняет оценку банка, не ставит свой балл, не ищет в интернете и не решает за пользователя.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Пример: МАКСМАРКЕТ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A6470"/>
                </a:solidFill>
                <a:latin typeface="Calibri"/>
              </a:rPr>
              <a:t>ЧТО ВИДНО В НАЧАЛЕ ОТЧЁТА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846320" cy="2560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8A3B"/>
                </a:solidFill>
                <a:latin typeface="Calibri"/>
              </a:rPr>
              <a:t>Оценка банка: низкий риск, зелёный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8A3B"/>
                </a:solidFill>
                <a:latin typeface="Calibri"/>
              </a:rPr>
              <a:t>Оценка Банка России (ЗСК): зелёный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B1F3B"/>
                </a:solidFill>
                <a:latin typeface="Calibri"/>
              </a:rPr>
              <a:t>Статус: действующая компания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Так выглядит первая страница отчёта. Большинство пользователей дальше не читает.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C6E8"/>
                </a:solidFill>
                <a:latin typeface="Calibri"/>
              </a:rPr>
              <a:t>ЧТО НАПИСАНО В ТОМ ЖЕ ОТЧЁТЕ ДАЛЬШЕ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846320" cy="2560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Признана банкротом, открыто конкурсное производство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Руководит конкурсный управляющий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507 исполнительных производств, 54 действующих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278 арбитражных дел, из них 258 против компании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Счета заблокированы налоговой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100816" cy="1234440"/>
          </a:xfrm>
          <a:prstGeom prst="roundRect">
            <a:avLst>
              <a:gd name="adj" fmla="val 8888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5010912"/>
            <a:ext cx="10552176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F3B"/>
                </a:solidFill>
                <a:latin typeface="Calibri"/>
              </a:rPr>
              <a:t>Таких компаний 6 из 200 отчётов в тестовой выгрузке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Агент выводит эти факты первыми и даёт вывод: работать только на условиях предоплаты и с подтверждающими документами. Оценку банка при этом не оспаривает, а приводит как есть.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Как устроено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B1F3B"/>
                </a:solidFill>
                <a:latin typeface="Calibri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F3124"/>
                </a:solidFill>
                <a:latin typeface="Calibri"/>
              </a:rPr>
              <a:t>200 отчётов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73736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тестовая выгрузка банка в двух форматах; приводим к одной структуре и проверяем каждое поле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971800"/>
            <a:ext cx="256032" cy="0"/>
          </a:xfrm>
          <a:prstGeom prst="line">
            <a:avLst/>
          </a:prstGeom>
          <a:ln w="25400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35224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8104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Правила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C6E8"/>
                </a:solidFill>
                <a:latin typeface="Calibri"/>
              </a:rPr>
              <a:t>без нейросети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468880"/>
            <a:ext cx="173736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E8E8F0"/>
                </a:solidFill>
                <a:latin typeface="Calibri"/>
              </a:rPr>
              <a:t>около 30 правил находят риски: банкротство, долги, суды, убытки. Вывод «можно / проверить / на условиях» считает код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56631" y="2971800"/>
            <a:ext cx="256033" cy="0"/>
          </a:xfrm>
          <a:prstGeom prst="line">
            <a:avLst/>
          </a:prstGeom>
          <a:ln w="25400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21808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04688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B1F3B"/>
                </a:solidFill>
                <a:latin typeface="Calibri"/>
              </a:rPr>
              <a:t>Инструменты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F3124"/>
                </a:solidFill>
                <a:latin typeface="Calibri"/>
              </a:rPr>
              <a:t>8 функций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468880"/>
            <a:ext cx="173736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агент читает отчёт только через них; каждый ответ содержит адрес поля в отчёте и дату отчёта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43216" y="2971800"/>
            <a:ext cx="256032" cy="0"/>
          </a:xfrm>
          <a:prstGeom prst="line">
            <a:avLst/>
          </a:prstGeom>
          <a:ln w="25400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08392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91271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Агент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C6E8"/>
                </a:solidFill>
                <a:latin typeface="Calibri"/>
              </a:rPr>
              <a:t>нейросеть + проверка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2468880"/>
            <a:ext cx="173736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E8E8F0"/>
                </a:solidFill>
                <a:latin typeface="Calibri"/>
              </a:rPr>
              <a:t>языковая модель решает, что запросить, и пишет ответ; отдельный шаг сверяет каждую ссылку с отчётом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29800" y="2971800"/>
            <a:ext cx="256032" cy="0"/>
          </a:xfrm>
          <a:prstGeom prst="line">
            <a:avLst/>
          </a:prstGeom>
          <a:ln w="25400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94976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277855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B1F3B"/>
                </a:solidFill>
                <a:latin typeface="Calibri"/>
              </a:rPr>
              <a:t>Интерфейс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7855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F3124"/>
                </a:solidFill>
                <a:latin typeface="Calibri"/>
              </a:rPr>
              <a:t>чат и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7855" y="2468880"/>
            <a:ext cx="173736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ответ приходит по мере готовности; агент помнит контекст разговора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00600"/>
            <a:ext cx="11100816" cy="1280160"/>
          </a:xfrm>
          <a:prstGeom prst="roundRect">
            <a:avLst>
              <a:gd name="adj" fmla="val 8571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59" y="4965192"/>
            <a:ext cx="10552176" cy="100583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Ключевое решение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8F0"/>
                </a:solidFill>
                <a:latin typeface="Calibri"/>
              </a:rPr>
              <a:t>Всё, что можно посчитать, считает код: риски, вывод, список фактов. Нейросеть только формулирует текст. Если она сослалась на поле, которого в отчёте нет, проверка это ловит, и ответ переписывается.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Что уже сделано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Сквозной сценарий работает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по ИНН или названию агент читает отчёт, находит риски и даёт вывод; каждая ссылка на отчёт проверена кодом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554480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360" y="156362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8132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Все 200 отчётов из выгрузки читаются без ошибок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каждое поле отчёта имеет адрес, и адрес в ответе агента ведёт на реальное место в отчёте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0603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3288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Вывод по всем 200 компаниям считается автоматически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91 «можно работать», 77 «стоит проверить», 32 «только на условиях»; пороги согласованы с кейсодателем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260603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261518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53288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Скрытые банкротства находятся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все 6 компаний с зелёной оценкой и банкротством или исключением из реестра получили вывод «работать только на условиях»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5759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66674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8444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Данные агента доступны другим системам банка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банк планирует отдавать отчёты ИИ-агентам через стандарт MCP; наш сервер уже работает по нему, например, из Claude Desktop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65759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3666744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584448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Ответ приходит по мере готовности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есть страница чата и API; всё собирается в Docker одной командой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70915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718303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36007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199 автоматических тестов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проверяют данные, правила и инструменты без обращения к нейросети, поэтому идут секунды и запускаются на каждое изменение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709159"/>
            <a:ext cx="310896" cy="310896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09360" y="4718303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36007"/>
            <a:ext cx="484632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Нейросеть заменяется одной настройкой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проверили на трёх разных моделях; это нужно, чтобы агент работал на дешёвой модели, которую выберет банк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760720"/>
            <a:ext cx="310896" cy="310896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310896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87568"/>
            <a:ext cx="10515600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Сравнение нескольких контрагентов · в работе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инструмент сравнения готов, сценарий «загрузил несколько отчётов и получил, кого выбрать» дописываем в интерфейсе и промпте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Как это выглядит в диалоге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2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4937760" cy="566928"/>
          </a:xfrm>
          <a:prstGeom prst="roundRect">
            <a:avLst>
              <a:gd name="adj" fmla="val 19354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Проверь ООО «МАКСМАРКЕТ», можно ли с ней работать?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470"/>
                </a:solidFill>
                <a:latin typeface="Calibri"/>
              </a:rPr>
              <a:t>Светофор банка: зелёный · ЗСК: зелёный · отчёт от 31.07.2026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F3124"/>
                </a:solidFill>
                <a:latin typeface="Calibri"/>
              </a:rPr>
              <a:t>Работать только на условиях: предоплата и подтверждающие документы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— Признана банкротом, открыто конкурсное производство  [status.reasonName]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— Руководит конкурсный управляющий с 09.02.2026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— 54 действующих производства у приставов на 4 млн ₽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— Счета заблокированы по решению налоговой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0"/>
                </a:solidFill>
                <a:latin typeface="Calibri"/>
              </a:rPr>
              <a:t>Чего в отчёте нет: численности, прибыли, текущей ликвидности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0"/>
                </a:solidFill>
                <a:latin typeface="Calibri"/>
              </a:rPr>
              <a:t>Что запросить: актуальную отчётность, документы о снятии блокировок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394960" cy="4663440"/>
          </a:xfrm>
          <a:prstGeom prst="roundRect">
            <a:avLst>
              <a:gd name="adj" fmla="val 2352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92240" y="1600200"/>
            <a:ext cx="4937760" cy="566928"/>
          </a:xfrm>
          <a:prstGeom prst="roundRect">
            <a:avLst>
              <a:gd name="adj" fmla="val 19354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664208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А сколько у них судов и кто с кем?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Всего 278 дел.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На компанию подавали 258 раз на 2,61 млрд ₽, это в 7 раз больше её капитала. Сама подавала 20 раз на 388 млн ₽.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В 2025 году одно дело, компания ответчик, 21,7 млн ₽.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Перечня дел в отчёте нет, поэтому с кем и за что, сказать нельзя.</a:t>
            </a:r>
          </a:p>
          <a:p>
            <a:pPr algn="l">
              <a:spcAft>
                <a:spcPts val="1400"/>
              </a:spcAft>
            </a:pPr>
            <a:r>
              <a:rPr sz="1100" b="0">
                <a:solidFill>
                  <a:srgbClr val="5A6470"/>
                </a:solidFill>
                <a:latin typeface="Calibri"/>
              </a:rPr>
              <a:t>Дата отчёта: 31.07.2026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470"/>
                </a:solidFill>
                <a:latin typeface="Calibri"/>
              </a:rPr>
              <a:t>Оба ответа взяты из прогона эталона без правок. Каждое число сверено кодом с полем отчёта, адреса полей в скобках.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Открытый вопрос: где живёт 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846320" cy="3017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A6470"/>
                </a:solidFill>
                <a:latin typeface="Calibri"/>
              </a:rPr>
              <a:t>ВАРИАНТ А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B1F3B"/>
                </a:solidFill>
                <a:latin typeface="Calibri"/>
              </a:rPr>
              <a:t>Чат рядом с отчётом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Пользователь вводит ИНН и спрашивает. Так работает наш прототип сейчас, и так проще показать.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Но по опыту кейсодателя отдельного помощника рядом с продуктом не замечают, а организаторы прямо предостерегают от чат-бота по умолчанию.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846320" cy="3017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C6E8"/>
                </a:solidFill>
                <a:latin typeface="Calibri"/>
              </a:rPr>
              <a:t>ВАРИАНТ Б · НАШЕ ПРЕДЛОЖЕНИЕ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Блок на первом экране отчёта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8E8F0"/>
                </a:solidFill>
                <a:latin typeface="Calibri"/>
              </a:rPr>
              <a:t>Пользователь открыл отчёт или создаёт платёж новой компании. Под меткой банка сразу пять строк: условие, два-три факта, чего в отчёте нет, дата.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8F0"/>
                </a:solidFill>
                <a:latin typeface="Calibri"/>
              </a:rPr>
              <a:t>Блок считается кодом без модели, поэтому появляется мгновенно и не выдумывает. Вопросы «почему» и «а суды?» ниже, в чате.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11100816" cy="1143000"/>
          </a:xfrm>
          <a:prstGeom prst="roundRect">
            <a:avLst>
              <a:gd name="adj" fmla="val 96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5102352"/>
            <a:ext cx="10552176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F3B"/>
                </a:solidFill>
                <a:latin typeface="Calibri"/>
              </a:rPr>
              <a:t>Второй вопрос: сколько показывать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Сейчас агент выдаёт семь фактов и три пробела. По критериям нужно два-три решающих, остальное под «подробнее». Оба вопроса решаем с кейсодателем на ближайшей встрече.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Как тестируем агента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4937760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Эталон вопросов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50 вопросов к 12 компаниям с известными правильными ответами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четыре вида вопросов: ответ есть в отчёте · ответа нет, и агент должен отказаться · нужен вывод из нескольких фактов · полная проверка компании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1527048"/>
            <a:ext cx="4937760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Автоматические проверки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код сверяет ответ агента с отчётом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каждая ссылка ведёт на реальное поле, и число в ответе сходится с ним; дата отчёта названа; если данных нет, агент отказался, а не придумал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4937760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LLM-as-judge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вторая нейросеть оценивает ответ по рубрике от 0 до 5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она сильнее той, что внутри агента, и видит не только ответ, но и данные из отчёта, поэтому отличает факт от выдумки. Пропуск критичного факта или выдумка дают ноль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0896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3218688"/>
            <a:ext cx="4937760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Две модели под капотом агента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чтобы промпт был надёжным, а не подогнанным под одну модель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один и тот же эталон гоняем на дешёвой модели, которую выберет банк, и на сильной контрольной. Ошибка только на дешёвой: слабость модели. На обеих: ошибка в наших правилах или промпте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F3124"/>
                </a:solidFill>
                <a:latin typeface="Calibri"/>
              </a:rPr>
              <a:t>ЦЕЛИ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2697480" cy="868680"/>
          </a:xfrm>
          <a:prstGeom prst="roundRect">
            <a:avLst>
              <a:gd name="adj" fmla="val 1263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5248656"/>
            <a:ext cx="26974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B1F3B"/>
                </a:solidFill>
                <a:latin typeface="Calibri"/>
              </a:rPr>
              <a:t>≥ 80 %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6974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0"/>
                </a:solidFill>
                <a:latin typeface="Calibri"/>
              </a:rPr>
              <a:t>подтверждённых ответов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5212080"/>
            <a:ext cx="2697480" cy="868680"/>
          </a:xfrm>
          <a:prstGeom prst="roundRect">
            <a:avLst>
              <a:gd name="adj" fmla="val 1263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46704" y="5248656"/>
            <a:ext cx="26974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B1F3B"/>
                </a:solidFill>
                <a:latin typeface="Calibri"/>
              </a:rPr>
              <a:t>≥ 90 %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5669280"/>
            <a:ext cx="26974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0"/>
                </a:solidFill>
                <a:latin typeface="Calibri"/>
              </a:rPr>
              <a:t>корректных отказов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5212080"/>
            <a:ext cx="2697480" cy="868680"/>
          </a:xfrm>
          <a:prstGeom prst="roundRect">
            <a:avLst>
              <a:gd name="adj" fmla="val 12631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44768" y="5248656"/>
            <a:ext cx="26974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669280"/>
            <a:ext cx="26974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C9C6E8"/>
                </a:solidFill>
                <a:latin typeface="Calibri"/>
              </a:rPr>
              <a:t>выдуманных фактов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5212080"/>
            <a:ext cx="2697480" cy="868680"/>
          </a:xfrm>
          <a:prstGeom prst="roundRect">
            <a:avLst>
              <a:gd name="adj" fmla="val 12631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942832" y="5248656"/>
            <a:ext cx="26974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5669280"/>
            <a:ext cx="26974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C9C6E8"/>
                </a:solidFill>
                <a:latin typeface="Calibri"/>
              </a:rPr>
              <a:t>пропущенных критичных фактов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Первые результаты: 50 вопросов, две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100816" cy="54864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490472"/>
            <a:ext cx="268833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490472"/>
            <a:ext cx="131673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Подтверждаемых ответов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1490472"/>
            <a:ext cx="117957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Корректных отказов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490472"/>
            <a:ext cx="117957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Выдуманных фактов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1490472"/>
            <a:ext cx="10424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Неверных ссылок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490472"/>
            <a:ext cx="122529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Пропущено критичных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1552" y="1490472"/>
            <a:ext cx="67665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Судья, 0–5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4512" y="1490472"/>
            <a:ext cx="62179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Время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11100816" cy="566928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" y="2075688"/>
            <a:ext cx="26883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1F3B"/>
                </a:solidFill>
                <a:latin typeface="Calibri"/>
              </a:rPr>
              <a:t>Контрольная: deepseek‑v4‑flash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075688"/>
            <a:ext cx="13167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76 %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075688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100 %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075688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2 %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2075688"/>
            <a:ext cx="104241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075688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2075688"/>
            <a:ext cx="67665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4,4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4512" y="2075688"/>
            <a:ext cx="6217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155 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32888"/>
            <a:ext cx="11100816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" y="2642616"/>
            <a:ext cx="26883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1F3B"/>
                </a:solidFill>
                <a:latin typeface="Calibri"/>
              </a:rPr>
              <a:t>Целевая: gpt‑oss‑20b, промпт 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2642616"/>
            <a:ext cx="13167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45 %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2642616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100 %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642616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2642616"/>
            <a:ext cx="104241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12 %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642616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8 %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1552" y="2642616"/>
            <a:ext cx="67665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3,5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4512" y="2642616"/>
            <a:ext cx="6217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34 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099815"/>
            <a:ext cx="11100816" cy="566928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3209544"/>
            <a:ext cx="26883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1F3B"/>
                </a:solidFill>
                <a:latin typeface="Calibri"/>
              </a:rPr>
              <a:t>Целевая: gpt‑oss‑20b, промпт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3209544"/>
            <a:ext cx="131673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76 %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3209544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100 %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3209544"/>
            <a:ext cx="117957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2" y="3209544"/>
            <a:ext cx="104241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4 %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3209544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1552" y="3209544"/>
            <a:ext cx="676656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4,5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4512" y="3209544"/>
            <a:ext cx="621792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38 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749039"/>
            <a:ext cx="11100816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0"/>
                </a:solidFill>
                <a:latin typeface="Calibri"/>
              </a:rPr>
              <a:t>Подтверждаемый ответ: все ссылки на отчёт сходятся с данными и судья ставит не ниже 4. Выдуманный факт: судья, который видит данные из отчёта, нашёл в ответе то, чего в них нет. Неверная ссылка: число верное, но адрес поля не тот. С первым промптом дешёвая модель проваливалась на форме: в 18 ответах из 50 не было даты, обязательные факты не названы в 22. С промптом v2 и проверками кодом она вышла на уровень контрольной модели при вчетверо меньшем времени ответа.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11100816" cy="1463040"/>
          </a:xfrm>
          <a:prstGeom prst="roundRect">
            <a:avLst>
              <a:gd name="adj" fmla="val 75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2959" y="4782312"/>
            <a:ext cx="10552176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Что за этим стоит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8F0"/>
                </a:solidFill>
                <a:latin typeface="Calibri"/>
              </a:rPr>
              <a:t>Всё, что модель забывает или путает, ловит код: пустой ответ, категоричную фразу, сводку вместо ответа на вопрос, ссылку на пустое или, наоборот, заполненное поле. Первые двадцать вопросов эталона нашли больше ошибок в самом тестировании, чем в агенте, все закрыты тестами. Осталось: три пропуска второстепенных фактов по судье и две ссылки на неверные суммы из сводки судов.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Риски и что с ними делаем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100816" cy="4572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100816" cy="786384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1F3B"/>
                </a:solidFill>
                <a:latin typeface="Calibri"/>
              </a:rPr>
              <a:t>Банк выберет дешёвую нейросеть, а она слабее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всё, что можно посчитать, считает код, нейросеть только формулирует текст; запасные модели включаются настройкой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79"/>
            <a:ext cx="1110081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1F3B"/>
                </a:solidFill>
                <a:latin typeface="Calibri"/>
              </a:rPr>
              <a:t>Не решено, где живёт агент и с чего начинается проверка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8892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два варианта готовы к показу; решение принимаем вместе с кейсодателем на ближайшей встрече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11100816" cy="786384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611879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1F3B"/>
                </a:solidFill>
                <a:latin typeface="Calibri"/>
              </a:rPr>
              <a:t>Работаем на выгрузке, а не на живых отчётах банка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79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в живых отчётах набор разделов может отличаться; код различает «раздела нет» и «раздел пустой» и не путает отсутствие данных с отсутствием нарушений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1110081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1F3B"/>
                </a:solidFill>
                <a:latin typeface="Calibri"/>
              </a:rPr>
              <a:t>Нейросеть-судья тоже ошибается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3484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рядом с ней автоматические проверки кодом, повторные прогоны и разбор каждого провала руками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11100816" cy="786384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1F3B"/>
                </a:solidFill>
                <a:latin typeface="Calibri"/>
              </a:rPr>
              <a:t>Интерфейс банка не показывает жёлтую и красную оценку ЗСК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57800"/>
            <a:ext cx="512064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агент не раскрывает то, что интерфейс скрывает намеренно; как говорить об этом, уточняем у кейсодателя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Что дальше до финала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2870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Сравнение нескольких контрагентов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пользователь загружает несколько отчётов и получает, кого выбрать и с кем не стоит; инструмент готов, дописываем сценарий и интерфейс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2569464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78024"/>
            <a:ext cx="102870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Показать кейсодателю два варианта первого экрана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и решить, где живёт агент, с чего начинается проверка и как говорить о ЗСК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465576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74136"/>
            <a:ext cx="102870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Закончить прогоны и показать цифры по двум моделям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затем повторные прогоны, чтобы отделить случайность от системных ошибок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4361688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70248"/>
            <a:ext cx="102870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Поправить агента по итогам прогонов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два-три факта вместо семи, без категоричных фраз, ответ по существу на уточняющий вопрос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502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66360"/>
            <a:ext cx="102870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1F3B"/>
                </a:solidFill>
                <a:latin typeface="Calibri"/>
              </a:rPr>
              <a:t>Интерфейс в выбранном варианте и приёмка по сценариям кейсодателя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0"/>
                </a:solidFill>
                <a:latin typeface="Calibri"/>
              </a:rPr>
              <a:t>затем финальные материалы: презентация, описание, демо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45375" y="36576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AI PRODUCT HACK 2026 · КЕЙС АЛЬФА-БАНКА · КОМАНДА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82296" cy="45720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1051560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1F3B"/>
                </a:solidFill>
                <a:latin typeface="Calibri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470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566160" cy="868680"/>
          </a:xfrm>
          <a:prstGeom prst="rect">
            <a:avLst/>
          </a:prstGeom>
          <a:solidFill>
            <a:srgbClr val="4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3566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Владимир Тимошенко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92808"/>
            <a:ext cx="35661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C9C6E8"/>
                </a:solidFill>
                <a:latin typeface="Calibri"/>
              </a:rPr>
              <a:t>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566160" cy="3794759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200400" cy="35661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Пользователь и проблема, гипотеза, границы MVP, метрики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Сделано: продуктовый бриф, описание проекта, презентация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Участие полное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3566160" cy="86868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15968" y="1527048"/>
            <a:ext cx="3566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Владимир Линьков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892808"/>
            <a:ext cx="35661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C9C6E8"/>
                </a:solidFill>
                <a:latin typeface="Calibri"/>
              </a:rPr>
              <a:t>Пользовательский опыт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286000"/>
            <a:ext cx="3566160" cy="3794759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200400" cy="35661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Интерфейс, разбор данных, аналоги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Сделано: критерии оценки агента и рубрика судьи, разбор аналогов, макеты первого экрана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Участие полное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3566160" cy="868680"/>
          </a:xfrm>
          <a:prstGeom prst="rect">
            <a:avLst/>
          </a:prstGeom>
          <a:solidFill>
            <a:srgbClr val="4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83296" y="1527048"/>
            <a:ext cx="3566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Алан Толпаров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892808"/>
            <a:ext cx="35661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C9C6E8"/>
                </a:solidFill>
                <a:latin typeface="Calibri"/>
              </a:rPr>
              <a:t>Код и качество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286000"/>
            <a:ext cx="3566160" cy="3794759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66175" y="2423160"/>
            <a:ext cx="3200400" cy="35661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Данные, правила, инструменты, агент, API, эталон и прогоны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Сделано: сквозной прототип, 199 тестов, эталон из 50 вопросов</a:t>
            </a:r>
          </a:p>
          <a:p>
            <a:pPr algn="ctr">
              <a:spcAft>
                <a:spcPts val="9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Участие полное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