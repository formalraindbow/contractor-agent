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40080" y="1097280"/>
            <a:ext cx="1463040" cy="1463040"/>
          </a:xfrm>
          <a:prstGeom prst="ellipse">
            <a:avLst/>
          </a:prstGeom>
          <a:solidFill>
            <a:srgbClr val="2E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651760" y="3291840"/>
            <a:ext cx="1371600" cy="1371600"/>
          </a:xfrm>
          <a:prstGeom prst="rect">
            <a:avLst/>
          </a:prstGeom>
          <a:solidFill>
            <a:srgbClr val="2E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4572000"/>
            <a:ext cx="914400" cy="914400"/>
          </a:xfrm>
          <a:prstGeom prst="ellipse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365760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9C6E8"/>
                </a:solidFill>
                <a:latin typeface="Calibri"/>
              </a:rPr>
              <a:t>АЛЬФА-БАНК · КЕЙС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097280"/>
            <a:ext cx="640080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AI PRODUCT HACK 2026 · ПРОМЕЖУТОЧНАЯ ВЕРСИЯ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583680" cy="23774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400" b="1">
                <a:solidFill>
                  <a:srgbClr val="1B1F3B"/>
                </a:solidFill>
                <a:latin typeface="Calibri"/>
              </a:rPr>
              <a:t>Агент для проверки контрагента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5A6470"/>
                </a:solidFill>
                <a:latin typeface="Calibri"/>
              </a:rPr>
              <a:t>Читает отчёт банка о компании и говорит предпринимателю, на каких условиях с ней работать и какие факты за этим стоят.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80" y="4343400"/>
            <a:ext cx="1463040" cy="54864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212080" y="4526280"/>
            <a:ext cx="6400800" cy="1828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Команда 10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Владимир Тимошенко · продукт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Владимир Линьков · пользовательский опыт и критерии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Алан Толпаров · код и проверка качества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Проблема: отчёт есть, вывода нет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3566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B1F3B"/>
                </a:solidFill>
                <a:latin typeface="Calibr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EF3124"/>
                </a:solidFill>
                <a:latin typeface="Calibri"/>
              </a:rPr>
              <a:t>разделов в отчёте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99232"/>
            <a:ext cx="3108960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финансы, суды, приставы, реестры, признаки банка. Предприниматель читает всё сам или смотрит только на метку риска сверху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315968" y="1691640"/>
            <a:ext cx="3566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B1F3B"/>
                </a:solidFill>
                <a:latin typeface="Calibri"/>
              </a:rPr>
              <a:t>6 из 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651760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EF3124"/>
                </a:solidFill>
                <a:latin typeface="Calibri"/>
              </a:rPr>
              <a:t>компаний с зелёной 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999232"/>
            <a:ext cx="3108960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уже банкроты или исключаются из реестра. Это видно в отчёте, но готовые рекомендации об этом молчат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83296" y="1691640"/>
            <a:ext cx="3566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B1F3B"/>
                </a:solidFill>
                <a:latin typeface="Calibri"/>
              </a:rPr>
              <a:t>≈ 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3296" y="2651760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EF3124"/>
                </a:solidFill>
                <a:latin typeface="Calibri"/>
              </a:rPr>
              <a:t>позитивных формулировок на карточку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2999232"/>
            <a:ext cx="3108960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«блокировок нет», «в реестрах не найден». Они не помогают решить, давать ли отсрочку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39"/>
            <a:ext cx="11100816" cy="2057400"/>
          </a:xfrm>
          <a:prstGeom prst="roundRect">
            <a:avLst>
              <a:gd name="adj" fmla="val 5333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2959" y="4142231"/>
            <a:ext cx="10552176" cy="1783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Кто и что решает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8F0"/>
                </a:solidFill>
                <a:latin typeface="Calibri"/>
              </a:rPr>
              <a:t>Предприниматель малого бизнеса без финансиста в штате. Перед сделкой с незнакомой компанией он решает: давать ли отсрочку, платить ли вперёд. Банк хочет, чтобы к проверке возвращались чаще, а для этого отчёту нужен вывод: на каких условиях работать и какие факты это подтверждают.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Что должен делать 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100816" cy="1234440"/>
          </a:xfrm>
          <a:prstGeom prst="roundRect">
            <a:avLst>
              <a:gd name="adj" fmla="val 8888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536192"/>
            <a:ext cx="10607040" cy="10972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C6E8"/>
                </a:solidFill>
                <a:latin typeface="Calibri"/>
              </a:rPr>
              <a:t>ЦЕЛЬ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Из отчёта банка по одной компании собрать короткий вывод с фактами и отвечать на вопросы о ней, не выдумывая ничего сверх отчёта.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ЧТО ВХОДИТ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331927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83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Первый экран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Метки банка как есть, дата отчёта, два-три решающих факта со ссылкой на поле и рекомендация: можно работать, стоит проверить, работать на условиях</a:t>
            </a:r>
          </a:p>
        </p:txBody>
      </p:sp>
      <p:sp>
        <p:nvSpPr>
          <p:cNvPr id="13" name="Oval 12"/>
          <p:cNvSpPr/>
          <p:nvPr/>
        </p:nvSpPr>
        <p:spPr>
          <a:xfrm>
            <a:off x="6263640" y="324612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63640" y="331927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22783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Ответы на вопросы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Сколько судов, есть ли долги, что с отчётностью. Только по отчёту, с указанием поля. Сессия помнит, о какой компании речь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57200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8640" y="464515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55371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Честный отказ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Если сведений в отчёте нет, агент так и говорит. «Нет данных» не значит «нет нарушений»</a:t>
            </a:r>
          </a:p>
        </p:txBody>
      </p:sp>
      <p:sp>
        <p:nvSpPr>
          <p:cNvPr id="19" name="Oval 18"/>
          <p:cNvSpPr/>
          <p:nvPr/>
        </p:nvSpPr>
        <p:spPr>
          <a:xfrm>
            <a:off x="6263640" y="457200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63640" y="464515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55371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Несколько компаний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В одной сессии можно спросить про нескольких и получить вывод, с кем лучше и с кем не стоит, без рейтингов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06440"/>
            <a:ext cx="11100816" cy="566928"/>
          </a:xfrm>
          <a:prstGeom prst="roundRect">
            <a:avLst>
              <a:gd name="adj" fmla="val 19354"/>
            </a:avLst>
          </a:prstGeom>
          <a:solidFill>
            <a:srgbClr val="FB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5870448"/>
            <a:ext cx="1060704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B1F3B"/>
                </a:solidFill>
                <a:latin typeface="Calibri"/>
              </a:rPr>
              <a:t>Чего не делает: не пересчитывает и не объясняет метку банка, не ставит свой скор, не ищет в интернете и не решает за пользователя.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Пример: МАКСМАРКЕТ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A6470"/>
                </a:solidFill>
                <a:latin typeface="Calibri"/>
              </a:rPr>
              <a:t>ЧТО ГОВОРИТ ОТЧЁТ СВЕРХУ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4846320" cy="2560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8A3B"/>
                </a:solidFill>
                <a:latin typeface="Calibri"/>
              </a:rPr>
              <a:t>Светофор банка: зелёный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F8A3B"/>
                </a:solidFill>
                <a:latin typeface="Calibri"/>
              </a:rPr>
              <a:t>ЗСК: зелёный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B1F3B"/>
                </a:solidFill>
                <a:latin typeface="Calibri"/>
              </a:rPr>
              <a:t>Статус: действующее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Так выглядит карточка на первом экране. Большинство пользователей дальше не читает.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37960" y="155448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C6E8"/>
                </a:solidFill>
                <a:latin typeface="Calibri"/>
              </a:rPr>
              <a:t>ЧТО ЛЕЖИТ В ТОМ ЖЕ ОТЧЁТЕ НИЖЕ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874519"/>
            <a:ext cx="4846320" cy="2560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Признана банкротом, открыто конкурсное производство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Руководит конкурсный управляющий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507 исполнительных производств, 54 действующих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278 арбитражных дел, из них 258 против компании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Счета заблокированы налоговой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6320"/>
            <a:ext cx="11100816" cy="1234440"/>
          </a:xfrm>
          <a:prstGeom prst="roundRect">
            <a:avLst>
              <a:gd name="adj" fmla="val 8888"/>
            </a:avLst>
          </a:prstGeom>
          <a:solidFill>
            <a:srgbClr val="FB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59" y="5010912"/>
            <a:ext cx="10552176" cy="9601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Таких компаний 6 из 200 в тестовой выгрузке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Агент показывает эти факты первыми и рекомендует работать только на условиях: предоплата и подтверждающие документы. Метку банка при этом не оспаривает, а приводит как есть.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Как устроено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B1F3B"/>
                </a:solidFill>
                <a:latin typeface="Calibri"/>
              </a:rPr>
              <a:t>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200 карточек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два формата выгрузки приводим к одной схеме; секции «нет» и «пусто» различаем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70048" y="2971800"/>
            <a:ext cx="256032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8104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Правила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4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C6E8"/>
                </a:solidFill>
                <a:latin typeface="Calibri"/>
              </a:rPr>
              <a:t>без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E8E8F0"/>
                </a:solidFill>
                <a:latin typeface="Calibri"/>
              </a:rPr>
              <a:t>около 30 правил по статусам, долгам, судам и финансам; рекомендация считается кодом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56631" y="2971800"/>
            <a:ext cx="256033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21808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504688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B1F3B"/>
                </a:solidFill>
                <a:latin typeface="Calibri"/>
              </a:rPr>
              <a:t>Инструменты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4688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8 функций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04688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агент читает отчёт только через них; каждый ответ с адресом поля и датой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43216" y="2971800"/>
            <a:ext cx="256032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08392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891271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Агент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271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C6E8"/>
                </a:solidFill>
                <a:latin typeface="Calibri"/>
              </a:rPr>
              <a:t>модель + проверка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1271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E8E8F0"/>
                </a:solidFill>
                <a:latin typeface="Calibri"/>
              </a:rPr>
              <a:t>модель выбирает инструменты и пишет текст; отдельный шаг сверяет каждую ссылку с отчётом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29800" y="2971800"/>
            <a:ext cx="256032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94976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277855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B1F3B"/>
                </a:solidFill>
                <a:latin typeface="Calibri"/>
              </a:rPr>
              <a:t>Интерфейс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77855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чат и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7855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ответ приходит потоком, сессия помнит контекст; есть страница чата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800600"/>
            <a:ext cx="11100816" cy="1280160"/>
          </a:xfrm>
          <a:prstGeom prst="roundRect">
            <a:avLst>
              <a:gd name="adj" fmla="val 8571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59" y="4965192"/>
            <a:ext cx="10552176" cy="100583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Ключевое решение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8F0"/>
                </a:solidFill>
                <a:latin typeface="Calibri"/>
              </a:rPr>
              <a:t>Всё, что можно посчитать, считает код: сигналы, рекомендацию, карточку. Модель только формулирует. Ссылка на поле, которого в отчёте нет, не проходит проверку, и ответ переписывается.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Что уже сделано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6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600200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60934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52704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Сквозной прототип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по ИНН или названию агент читает отчёт, считает сигналы и собирает карточку с проверенными ссылками на поля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600200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360" y="160934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52704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Все 200 карточек читаются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63 519 адресов полей прошли проверку туда и обратно; ловятся банкрот с зелёной меткой и исключение из реестра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2743200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275234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7004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Рекомендация по всем компаниям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91 можно работать, 77 стоит проверить, 32 только на условиях; пороги согласованы с кейсодателем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743200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360" y="275234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67004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Интерфейс для агентов банка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сервер инструментов подключается к внешним клиентам, например Claude Desktop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3886200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389534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81304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Потоковый API и страница чата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ответ приходит по мере готовности; собирается в Docker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886200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09360" y="389534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81304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175 автотестов без сети и модели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модель меняется одной строкой настроек, проверено на трёх разных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5029200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" y="503834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95604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Эталон для проверки качества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50 вопросов на 12 компаниях, проверки кодом и модель-судья; прогоны на двух моделях идут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5029200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309360" y="503834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95604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Разбор данных и правила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37 замечаний по правилам найдены и закрыты; тяжести фактов согласованы с кейсодателем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Как это выглядит в диалоге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4663440"/>
          </a:xfrm>
          <a:prstGeom prst="roundRect">
            <a:avLst>
              <a:gd name="adj" fmla="val 2352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4937760" cy="566928"/>
          </a:xfrm>
          <a:prstGeom prst="roundRect">
            <a:avLst>
              <a:gd name="adj" fmla="val 19354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1664208"/>
            <a:ext cx="466344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Проверь ООО «МАКСМАРКЕТ», можно ли с ней работать?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4846320" cy="3657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Светофор банка: зелёный · ЗСК: зелёный · отчёт от 31.07.2026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EF3124"/>
                </a:solidFill>
                <a:latin typeface="Calibri"/>
              </a:rPr>
              <a:t>Работать только на условиях: предоплата и подтверждающие документы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Признана банкротом, открыто конкурсное производство  [status.reasonName]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Руководит конкурсный управляющий с 09.02.2026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54 действующих производства у приставов на 4 млн ₽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Счета заблокированы по решению налоговой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Чего в отчёте нет: численности, прибыли, текущей ликвидности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Что запросить: актуальную отчётность, документы о снятии блокировок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394960" cy="4663440"/>
          </a:xfrm>
          <a:prstGeom prst="roundRect">
            <a:avLst>
              <a:gd name="adj" fmla="val 2352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92240" y="1600200"/>
            <a:ext cx="4937760" cy="566928"/>
          </a:xfrm>
          <a:prstGeom prst="roundRect">
            <a:avLst>
              <a:gd name="adj" fmla="val 19354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664208"/>
            <a:ext cx="466344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А сколько у них судов и кто с кем?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331720"/>
            <a:ext cx="4846320" cy="3657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Всего 278 дел.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На компанию подавали 258 раз на 2,61 млрд ₽, это в 7 раз больше её капитала. Сама подавала 20 раз на 388 млн ₽.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В 2025 году одно дело, компания ответчик, 21,7 млн ₽.</a:t>
            </a:r>
          </a:p>
          <a:p>
            <a:pPr algn="l">
              <a:spcAft>
                <a:spcPts val="10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Перечня дел в отчёте нет, поэтому с кем и за что, сказать нельзя.</a:t>
            </a:r>
          </a:p>
          <a:p>
            <a:pPr algn="l">
              <a:spcAft>
                <a:spcPts val="1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Дата отчёта: 31.07.2026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A6470"/>
                </a:solidFill>
                <a:latin typeface="Calibri"/>
              </a:rPr>
              <a:t>Оба ответа взяты из прогона эталона без правок. Каждое число сверено кодом с полем отчёта, адреса полей в скобках.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Открытый вопрос: где живёт 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3246120"/>
          </a:xfrm>
          <a:prstGeom prst="roundRect">
            <a:avLst>
              <a:gd name="adj" fmla="val 338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4846320" cy="30175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A6470"/>
                </a:solidFill>
                <a:latin typeface="Calibri"/>
              </a:rPr>
              <a:t>ВАРИАНТ А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F3B"/>
                </a:solidFill>
                <a:latin typeface="Calibri"/>
              </a:rPr>
              <a:t>Чат рядом с отчётом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Пользователь вводит ИНН и спрашивает. Так работает наш стенд, и так проще показать.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Но по опыту кейсодателя отдельного помощника рядом с продуктом не замечают, а организаторы прямо предостерегают от чат-бота по умолчанию.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394960" cy="3246120"/>
          </a:xfrm>
          <a:prstGeom prst="roundRect">
            <a:avLst>
              <a:gd name="adj" fmla="val 3380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37960" y="1554480"/>
            <a:ext cx="4846320" cy="30175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C6E8"/>
                </a:solidFill>
                <a:latin typeface="Calibri"/>
              </a:rPr>
              <a:t>ВАРИАНТ Б · НАШЕ ПРЕДЛОЖЕНИЕ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Блок на первом экране отчёта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E8E8F0"/>
                </a:solidFill>
                <a:latin typeface="Calibri"/>
              </a:rPr>
              <a:t>Пользователь открыл отчёт или создаёт платёж новой компании. Под меткой банка сразу пять строк: условие, два-три факта, чего в отчёте нет, дата.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E8E8F0"/>
                </a:solidFill>
                <a:latin typeface="Calibri"/>
              </a:rPr>
              <a:t>Блок считается кодом без модели, поэтому появляется мгновенно и не выдумывает. Вопросы «почему» и «а суды?» ниже, в чате.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37760"/>
            <a:ext cx="11100816" cy="1143000"/>
          </a:xfrm>
          <a:prstGeom prst="roundRect">
            <a:avLst>
              <a:gd name="adj" fmla="val 9600"/>
            </a:avLst>
          </a:prstGeom>
          <a:solidFill>
            <a:srgbClr val="FB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59" y="5102352"/>
            <a:ext cx="10552176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Второй вопрос: сколько показывать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Сейчас агент выдаёт семь фактов и три пробела. По критериям нужно два-три решающих, остальное под «подробнее». Оба вопроса решаем с кейсодателем на ближайшей встрече.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Как проверяем качество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1554480"/>
          </a:xfrm>
          <a:prstGeom prst="roundRect">
            <a:avLst>
              <a:gd name="adj" fmla="val 7058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554480"/>
            <a:ext cx="4937760" cy="1371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Эталон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50 вопросов на 12 компаниях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четыре типа: ответ есть в отчёте, ответа нет, нужен вывод, карточка целиком. Собран через наши же инструменты и перепроверен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394960" cy="1554480"/>
          </a:xfrm>
          <a:prstGeom prst="roundRect">
            <a:avLst>
              <a:gd name="adj" fmla="val 7058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1554480"/>
            <a:ext cx="4937760" cy="1371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Проверки кодом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без модели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каждая ссылка ведёт на поле, число сходится; дата отчёта есть; без данных агент отказался; ярлыков на компанию нет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08960"/>
            <a:ext cx="5394960" cy="1554480"/>
          </a:xfrm>
          <a:prstGeom prst="roundRect">
            <a:avLst>
              <a:gd name="adj" fmla="val 7058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3246120"/>
            <a:ext cx="4937760" cy="1371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Модель-судья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сильнее испытуемой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видит выдачу инструментов, иначе не отличит выдумку от факта. Пропуск критичного факта, выдумка или ответ без данных дают ноль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08960"/>
            <a:ext cx="5394960" cy="1554480"/>
          </a:xfrm>
          <a:prstGeom prst="roundRect">
            <a:avLst>
              <a:gd name="adj" fmla="val 7058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92240" y="3246120"/>
            <a:ext cx="4937760" cy="1371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Две модели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на одном тексте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целевая дешёвая и контрольная сильная. Валится одна: дело в модели. Валятся обе: дело в нас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9204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ЦЕЛИ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8640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B1F3B"/>
                </a:solidFill>
                <a:latin typeface="Calibri"/>
              </a:rPr>
              <a:t>≥ 80 %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0"/>
                </a:solidFill>
                <a:latin typeface="Calibri"/>
              </a:rPr>
              <a:t>подтверждённых ответов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46704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346704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B1F3B"/>
                </a:solidFill>
                <a:latin typeface="Calibri"/>
              </a:rPr>
              <a:t>≥ 90 %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6704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0"/>
                </a:solidFill>
                <a:latin typeface="Calibri"/>
              </a:rPr>
              <a:t>корректных отказов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44768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C9C6E8"/>
                </a:solidFill>
                <a:latin typeface="Calibri"/>
              </a:rPr>
              <a:t>выдуманных фактов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42832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942832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C9C6E8"/>
                </a:solidFill>
                <a:latin typeface="Calibri"/>
              </a:rPr>
              <a:t>пропущенных критичных фактов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Первые результаты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3566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18 из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06040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C9C6E8"/>
                </a:solidFill>
                <a:latin typeface="Calibri"/>
              </a:rPr>
              <a:t>ссылок подтверждены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53512"/>
            <a:ext cx="3108960" cy="45719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E4E4EC"/>
                </a:solidFill>
                <a:latin typeface="Calibri"/>
              </a:rPr>
              <a:t>в первом живом прогоне каждая ссылка на поле отчёта сошлась с данными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417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315968" y="1645920"/>
            <a:ext cx="3566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B1F3B"/>
                </a:solidFill>
                <a:latin typeface="Calibri"/>
              </a:rPr>
              <a:t>6 из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606040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EF3124"/>
                </a:solidFill>
                <a:latin typeface="Calibri"/>
              </a:rPr>
              <a:t>скрытых банкротств найдены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953512"/>
            <a:ext cx="3108960" cy="45719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все компании с зелёной меткой и банкротством или исключением из реестра получили «только на условиях»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417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83296" y="1645920"/>
            <a:ext cx="3566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B1F3B"/>
                </a:solidFill>
                <a:latin typeface="Calibri"/>
              </a:rPr>
              <a:t>34–65 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3296" y="2606040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EF3124"/>
                </a:solidFill>
                <a:latin typeface="Calibri"/>
              </a:rPr>
              <a:t>на полный ответ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2953512"/>
            <a:ext cx="3108960" cy="45719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на платных моделях; на бесплатной до трёх минут. Половину времени занимает судья, не агент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40480"/>
            <a:ext cx="11100816" cy="2240280"/>
          </a:xfrm>
          <a:prstGeom prst="roundRect">
            <a:avLst>
              <a:gd name="adj" fmla="val 4897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2959" y="4005072"/>
            <a:ext cx="10552176" cy="19659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Что показали первые прогоны эталона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8F0"/>
                </a:solidFill>
                <a:latin typeface="Calibri"/>
              </a:rPr>
              <a:t>Первые десять вопросов вскрыли четыре ошибки стенда и одну ошибку агента. Стенд: судья ходил не на тот адрес, проверка ссылок срезала скобку в адресе поля, уточняющие вопросы задавались без памяти сессии, эталон требовал слово «ЕГРЮЛ» буквально. Агент: пишет «производств нет» там, где надо «в отчёте не найдено», и даёт полную сводку вместо ответа на вопрос. Ошибки стенда закрыты и покрыты тестами, ошибки агента правим после прогона. Итоговая таблица по двум моделям будет к встрече с кейсодателем.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Риски и что с ними делаем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100816" cy="45720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502920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81328"/>
            <a:ext cx="502920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ЧТО ДЕЛАЕМ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11100816" cy="658368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1947672"/>
            <a:ext cx="5120640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1F3B"/>
                </a:solidFill>
                <a:latin typeface="Calibri"/>
              </a:rPr>
              <a:t>Целевая модель дешёвая и слабее контрольной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47672"/>
            <a:ext cx="5120640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ядро считается кодом, модель только формулирует; запасные модели включаются настройкой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69463"/>
            <a:ext cx="11100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642615"/>
            <a:ext cx="5120640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1F3B"/>
                </a:solidFill>
                <a:latin typeface="Calibri"/>
              </a:rPr>
              <a:t>Не решено, где живёт агент и с чего начинается проверка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642615"/>
            <a:ext cx="5120640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два варианта готовы к показу; решение с кейсодателем на ближайшей встрече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264408"/>
            <a:ext cx="11100816" cy="658368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3337560"/>
            <a:ext cx="5120640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1F3B"/>
                </a:solidFill>
                <a:latin typeface="Calibri"/>
              </a:rPr>
              <a:t>Работаем на выгрузке, а не на живом API банка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337560"/>
            <a:ext cx="5120640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схема плавающая: секции приходят и уходят; «нет секции» и «пустая секция» различаются в коде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59352"/>
            <a:ext cx="11100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4032504"/>
            <a:ext cx="5120640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1F3B"/>
                </a:solidFill>
                <a:latin typeface="Calibri"/>
              </a:rPr>
              <a:t>Модель-судья тоже ошибается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032504"/>
            <a:ext cx="5120640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рядом проверки кодом, повторные прогоны, разбор каждого провала руками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654296"/>
            <a:ext cx="11100816" cy="658368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4727448"/>
            <a:ext cx="5120640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1F3B"/>
                </a:solidFill>
                <a:latin typeface="Calibri"/>
              </a:rPr>
              <a:t>Интерфейс банка скрывает жёлтый и красный ЗСК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27448"/>
            <a:ext cx="5120640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агент не раскрывает то, что скрыто намеренно; как говорить об этом, уточняем у кейсодателя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349240"/>
            <a:ext cx="11100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7240" y="5422392"/>
            <a:ext cx="5120640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1F3B"/>
                </a:solidFill>
                <a:latin typeface="Calibri"/>
              </a:rPr>
              <a:t>В выгрузке есть ИНН физлиц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422392"/>
            <a:ext cx="5120640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репозиторий закрыт до ответа кейсодателя о публикации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Что дальше до финала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12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581912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Показать кейсодателю два варианта первого экрана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и зафиксировать, где живёт агент, с чего начинается проверка и как говорить о ЗСК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496312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2569464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478024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Дописать прогоны и собрать таблицу по двум моделям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затем повторы, чтобы отделить случайность от системных ошибок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392424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465576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374136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Поправить агента по итогам прогонов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два-три факта вместо семи, без категоричных фраз, ответ по существу на уточняющий вопрос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288536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" y="4361688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270248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Первый экран и чат в интерфейсе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в выбранном варианте; сравнение нескольких компаний в одной сессии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184648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166360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Приёмка по сценариям кейсодателя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и финальные материалы: презентация, описание, демо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Команда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3566160" cy="868680"/>
          </a:xfrm>
          <a:prstGeom prst="rect">
            <a:avLst/>
          </a:prstGeom>
          <a:solidFill>
            <a:srgbClr val="4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527048"/>
            <a:ext cx="356616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Владимир Тимошенко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92808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C9C6E8"/>
                </a:solidFill>
                <a:latin typeface="Calibri"/>
              </a:rPr>
              <a:t>Продукт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3566160" cy="3794759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3200400" cy="35661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Пользователь и проблема, гипотеза, границы MVP, метрики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Сделано: продуктовый бриф, описание проекта, презентация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Участие полное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417320"/>
            <a:ext cx="3566160" cy="86868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315968" y="1527048"/>
            <a:ext cx="356616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Владимир Линьков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1892808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C9C6E8"/>
                </a:solidFill>
                <a:latin typeface="Calibri"/>
              </a:rPr>
              <a:t>Пользовательский опыт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2286000"/>
            <a:ext cx="3566160" cy="3794759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98848" y="2423160"/>
            <a:ext cx="3200400" cy="35661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Интерфейс, разбор данных, аналоги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Сделано: критерии оценки агента и рубрика судьи, разбор аналогов, макеты первого экрана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Участие полное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1417320"/>
            <a:ext cx="3566160" cy="868680"/>
          </a:xfrm>
          <a:prstGeom prst="rect">
            <a:avLst/>
          </a:prstGeom>
          <a:solidFill>
            <a:srgbClr val="4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83296" y="1527048"/>
            <a:ext cx="356616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Алан Толпаров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1892808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C9C6E8"/>
                </a:solidFill>
                <a:latin typeface="Calibri"/>
              </a:rPr>
              <a:t>Код и качество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3296" y="2286000"/>
            <a:ext cx="3566160" cy="3794759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66175" y="2423160"/>
            <a:ext cx="3200400" cy="35661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Данные, правила, инструменты, агент, API, эталон и прогоны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Сделано: сквозной прототип, 175 тестов, эталон из 50 вопросов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Участие полное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