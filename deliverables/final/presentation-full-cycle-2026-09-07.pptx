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0a04c341e46eb" /><Relationship Type="http://schemas.openxmlformats.org/officeDocument/2006/relationships/extended-properties" Target="/docProps/app.xml" Id="R151a8baf422f49e3" /><Relationship Type="http://schemas.openxmlformats.org/officeDocument/2006/relationships/officeDocument" Target="/ppt/presentation.xml" Id="R7c66869cdb5c4b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da6e80abfc4c0d"/>
  </p:sldMasterIdLst>
  <p:notesMasterIdLst>
    <p:notesMasterId xmlns:r="http://schemas.openxmlformats.org/officeDocument/2006/relationships" r:id="R9e4b6b5499ca4a7e"/>
  </p:notesMasterIdLst>
  <p:sldIdLst>
    <p:sldId xmlns:r="http://schemas.openxmlformats.org/officeDocument/2006/relationships" id="256" r:id="R25e6a033173c4937"/>
    <p:sldId xmlns:r="http://schemas.openxmlformats.org/officeDocument/2006/relationships" id="257" r:id="R073d974a682449dd"/>
    <p:sldId xmlns:r="http://schemas.openxmlformats.org/officeDocument/2006/relationships" id="258" r:id="Rc0ddee5da0f1435b"/>
    <p:sldId xmlns:r="http://schemas.openxmlformats.org/officeDocument/2006/relationships" id="259" r:id="R0b44b97ddc314069"/>
    <p:sldId xmlns:r="http://schemas.openxmlformats.org/officeDocument/2006/relationships" id="260" r:id="Rc17b649c16754927"/>
    <p:sldId xmlns:r="http://schemas.openxmlformats.org/officeDocument/2006/relationships" id="261" r:id="R45fb523f911e4094"/>
    <p:sldId xmlns:r="http://schemas.openxmlformats.org/officeDocument/2006/relationships" id="262" r:id="Rc08c646b1984470d"/>
    <p:sldId xmlns:r="http://schemas.openxmlformats.org/officeDocument/2006/relationships" id="263" r:id="R3e36b7f1c10f4070"/>
    <p:sldId xmlns:r="http://schemas.openxmlformats.org/officeDocument/2006/relationships" id="264" r:id="Rc59228b2a3564a3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1564281bc94f18" /><Relationship Type="http://schemas.openxmlformats.org/officeDocument/2006/relationships/slideMaster" Target="/ppt/slideMasters/slideMaster1.xml" Id="R08da6e80abfc4c0d" /><Relationship Type="http://schemas.openxmlformats.org/officeDocument/2006/relationships/notesMaster" Target="/ppt/notesMasters/notesMaster1.xml" Id="R9e4b6b5499ca4a7e" /><Relationship Type="http://schemas.openxmlformats.org/officeDocument/2006/relationships/presProps" Target="/ppt/presProps.xml" Id="Rd5cf60abec414240" /><Relationship Type="http://schemas.openxmlformats.org/officeDocument/2006/relationships/viewProps" Target="/ppt/viewProps.xml" Id="R30bcd39c8ff0487d" /><Relationship Type="http://schemas.openxmlformats.org/officeDocument/2006/relationships/tableStyles" Target="/ppt/tableStyles.xml" Id="R1928e7ab1bff4c91" /><Relationship Type="http://schemas.openxmlformats.org/officeDocument/2006/relationships/slide" Target="/ppt/slides/slide1.xml" Id="R25e6a033173c4937" /><Relationship Type="http://schemas.openxmlformats.org/officeDocument/2006/relationships/slide" Target="/ppt/slides/slide2.xml" Id="R073d974a682449dd" /><Relationship Type="http://schemas.openxmlformats.org/officeDocument/2006/relationships/slide" Target="/ppt/slides/slide3.xml" Id="Rc0ddee5da0f1435b" /><Relationship Type="http://schemas.openxmlformats.org/officeDocument/2006/relationships/slide" Target="/ppt/slides/slide4.xml" Id="R0b44b97ddc314069" /><Relationship Type="http://schemas.openxmlformats.org/officeDocument/2006/relationships/slide" Target="/ppt/slides/slide5.xml" Id="Rc17b649c16754927" /><Relationship Type="http://schemas.openxmlformats.org/officeDocument/2006/relationships/slide" Target="/ppt/slides/slide6.xml" Id="R45fb523f911e4094" /><Relationship Type="http://schemas.openxmlformats.org/officeDocument/2006/relationships/slide" Target="/ppt/slides/slide7.xml" Id="Rc08c646b1984470d" /><Relationship Type="http://schemas.openxmlformats.org/officeDocument/2006/relationships/slide" Target="/ppt/slides/slide8.xml" Id="R3e36b7f1c10f4070" /><Relationship Type="http://schemas.openxmlformats.org/officeDocument/2006/relationships/slide" Target="/ppt/slides/slide9.xml" Id="Rc59228b2a3564a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4db2e67c9740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f3a5beae314ecb" /><Relationship Type="http://schemas.openxmlformats.org/officeDocument/2006/relationships/notesMaster" Target="/ppt/notesMasters/notesMaster1.xml" Id="R2cdef20fc4964a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a5cd0712e24ecc" /><Relationship Type="http://schemas.openxmlformats.org/officeDocument/2006/relationships/notesMaster" Target="/ppt/notesMasters/notesMaster1.xml" Id="Rf5cc4638d2f242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5eb4810cbc4b22" /><Relationship Type="http://schemas.openxmlformats.org/officeDocument/2006/relationships/notesMaster" Target="/ppt/notesMasters/notesMaster1.xml" Id="Ra4faffe1aecc43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8efe7720a7406f" /><Relationship Type="http://schemas.openxmlformats.org/officeDocument/2006/relationships/notesMaster" Target="/ppt/notesMasters/notesMaster1.xml" Id="R26c77e33cb1e4f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cf5fa476d947e6" /><Relationship Type="http://schemas.openxmlformats.org/officeDocument/2006/relationships/notesMaster" Target="/ppt/notesMasters/notesMaster1.xml" Id="R4ab4d30856924d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c59461bf5544a2" /><Relationship Type="http://schemas.openxmlformats.org/officeDocument/2006/relationships/notesMaster" Target="/ppt/notesMasters/notesMaster1.xml" Id="R07807d41b6ba4d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8498f8d3724293" /><Relationship Type="http://schemas.openxmlformats.org/officeDocument/2006/relationships/notesMaster" Target="/ppt/notesMasters/notesMaster1.xml" Id="R785a545ef98844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b7a534175c4211" /><Relationship Type="http://schemas.openxmlformats.org/officeDocument/2006/relationships/notesMaster" Target="/ppt/notesMasters/notesMaster1.xml" Id="R08ebcac9306e46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0fc729653c4abb" /><Relationship Type="http://schemas.openxmlformats.org/officeDocument/2006/relationships/notesMaster" Target="/ppt/notesMasters/notesMaster1.xml" Id="Rfe374c30abe04d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Контрагент · 0:00–0:15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Мы сделали «Контрагента», помощника по банковскому отчёту. Пользователь спрашивает о компании: что с финансами, можно ли давать отсрочку или кого выбрать из поставщиков. Помощник отвечает по существу и показывает основания.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[Справка, не читать]</a:t>
            </a:r>
            <a:endParaRPr/>
          </a:p>
          <a:p xmlns:a="http://schemas.openxmlformats.org/drawingml/2006/main">
            <a:r>
              <a:t>Источник: пользовательская презафин.pptx. Текущий стенд b899b40, GPT-OSS-20B/Polza.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Проблема и ценность · 0:15–0:45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Зелёная банковская метка ещё не отвечает на конкретный вопрос предпринимателя. В нашей выборке среди 158 компаний с зелёной меткой у 30 встречаются блокировки счетов, массовый адрес или недостоверные данные. Встречается и банкротство.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Наша задача — сократить путь от длинного документа до понятного ответа. Пользователь видит главное и уточняет детали в том же диалоге. При вопросе об одной компании помощник сохраняет этот фокус.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[Справка, не читать]</a:t>
            </a:r>
            <a:endParaRPr/>
          </a:p>
          <a:p xmlns:a="http://schemas.openxmlformats.org/drawingml/2006/main">
            <a:r>
              <a:t>Источник: исходный слайд пользователя и docs/PRESENTATION_PLAN_5_MIN.md. Числа описывают выборку отчётов, не весь рынок. Сокращение текста не является замером скорости принятия решения.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Как работает агент · 0:45–1:30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Сейчас агент работает на GPT-OSS-20B через Polza. Модель понимает вопрос и выбирает инструменты MCP. Они читают данные отчёта. Суммы, финансовые коэффициенты и сигналы считает код. Банковские метки переносим без пересчёта.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Модель формулирует объяснение и рекомендацию по найденным фактам. Карточки и точные справки собирает код. Затем проверяем компанию, источники и числа. При ошибке есть одна попытка исправления. Итоговый ответ и историю сохраняем.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— выгрузка 200 отчётов в JSON и CSV. Промышленный API банка ещё предстоит подключить. GLM проверяет тесты, в пользовательском запросе второго судьи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[Справка, не читать]</a:t>
            </a:r>
          </a:p>
          <a:p xmlns:a="http://schemas.openxmlformats.org/drawingml/2006/main">
            <a:r>
              <a:t>Источники: src/contractor_agent/agent/{graph,nodes,interpretation,evidence,citations,money_guard}.py, mcp_server/tools.py, docs/evaluation-v8/ARCHITECTURE.md. Схема логическая. GLM работает только при офлайн-тестировании. Банк ещё не подтвердил промышленный контракт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Весь цикл до v7 · 1:30–2:20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Начали с 50 вопросов. После второй версии промпта доля подтверждаемых ответов на 20B выросла с 45 до 76 процентов. Затем расширили проверку до 219 сценариев, добавив диалоги, сравнения и посторонние инструкции.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Рост оказался неровным. В четвёртой версии карточки чаще теряли обязательные факты. Пришлось исправлять поиск компании, выбор года, судебные роли и проверку источников. Обязательные факты карточки закрепили в коде.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v7 старая оценка судьи составила 91,6 из ста у 20B и 90,2 у 120B. В 77 карточках обе модели сохранили обязательные факты. С учётом повторов и составных вопросов финальная v7 получила 1044 запуска. Оставили 20B: сильная модель не дала преимущества на нашем наборе.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[Справка, не читать]</a:t>
            </a:r>
          </a:p>
          <a:p xmlns:a="http://schemas.openxmlformats.org/drawingml/2006/main">
            <a:r>
              <a:t>Источники: deliverables/interim/EVAL_REPORT.md (50 вопросов, GPT-OSS-120B судья), EVAL_REPORT_2026-09-06.md (v3–v6, Qwen), docs/evaluation-v7/metrics.json, docs/EVAL_V7_2026-09-07.md. Балл 0–5 ×20, не trajectory match. v1/v2 флаг invented_fact, v3–v7 invented_fact OR false_alarm. v3–v5 проценты округлены в исходном отчёте. v6 20B: 14/217 без двух ошибок выполнения. v7: 438 + 528 + 72 + 6 =1044 запуска с повторами, не уникальных сценария. Разные судьи и выборки не дают единой сопоставимой кривой.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Почему сменили метрики · 2:20–3:00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 правильная карточка ещё не означает хороший диалог. Пользователь спрашивал «стоит ли соглашаться?», а агент мог снова пересказать отчёт. Старая составная метрика плохо объясняла, где именно ломается такой сценарий.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Поэтому в v8 перешли к trajectory match в строгом режиме. Судья другого семейства, GLM 5.3 Flash, проверяет ответ и фактические вызовы инструментов, их аргументы и порядок. Score от нуля до ста показывает степень соответствия эталону. Наша цель — 85 и выше.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 лучше описывает поведение агента, но сама шкала не делает судью точнее. Отдельно считаем сценарии с галлюцинациями и покрытие, читаем диалоги вручную. Старые и новые баллы напрямую не сравниваем.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[Справка, не читать]</a:t>
            </a:r>
          </a:p>
          <a:p xmlns:a="http://schemas.openxmlformats.org/drawingml/2006/main">
            <a:r>
              <a:t>Источники: docs/evaluation-v8/FRAMEWORK_MIGRATION.md, REPEATS_AND_CALIBRATION.md. Trajectory score0–1 ×100. Hard учитывает путь и может штрафовать эквивалентный альтернативный порядок. Снижение числа галлюцинаций и лучшая точность нового судьи независимо не доказаны. Доля H = сценарии с hallucination.score&lt;1 / оценённые этой метрикой сценарии. Не 100-score.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Все прогоны v8 · 3:00–3:35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Здесь весь журнал v8, включая неудачные и частичные проверки. Сохранили прямые ответы, повторы, спорные случаи и большой регресс.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Судья иногда не видел поля в трассе инструмента, хотя оно было в отчёте. В другом случае агент исказил название компании. Исправляли и приложение, и трассировку, сохраняя исходные оценки.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Большой прогон остановили на 123 из 219 сценариев ради подготовки демо. Оставшиеся 96 не выдаём за пройденные. Выборки и эталоны менялись, поэтому средние разных строк напрямую не сравниваем.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[Справка, не читать]</a:t>
            </a:r>
          </a:p>
          <a:p xmlns:a="http://schemas.openxmlformats.org/drawingml/2006/main">
            <a:r>
              <a:t>Источник: docs/evaluation-v8/metrics-by-version.json. Строки: direct-high-01 b8f9152 refv2/fd16876; direct-high-02 b82a758 refv3/0fef7ae; verification-high-01 285cc16 refv4/2d5144b; direct-high-03 70e71d2 refv4/f3a7d76; regression-high-01 b8f9152 refv3/0fef7ae; deadline-1330-high cadaa8a refv4/f3a7d76; deadline-1330-fixes-high b899b40 refv4/f3a7d76. Галлюцинации среди оценённых диалогов, ошибки судьи не приравниваются к успеху. В verification 2 флага обусловлены неполной трассой данных, исходные оценки сохранены.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Последний контроль · 3:35–4:20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Перед демонстрацией выполнили 24 контрольных диалога. Судья оценил 23, в одном случае был тайм-аут. Средний trajectory match — 92,9. Порог 85 достигнут в 20 из 24 сценариев. Среди 23 оценённых диалогов автоматический судья не отметил галлюцинаций.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Вручную прочитали все 24 и нашли два дефекта: непрямой ответ на вопрос о согласии и потерю года финансового показателя. Исправили и повторили эти диалоги: 87 и 90 баллов. Эта версия работает на стенде.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92,9 относится к сборке до двух исправлений. Полный повтор финальной версии ещё нужен. Контроль перед демо не заменяет банковскую приёмку.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[Справка, не читать]</a:t>
            </a:r>
            <a:endParaRPr/>
          </a:p>
          <a:p xmlns:a="http://schemas.openxmlformats.org/drawingml/2006/main">
            <a:r>
              <a:t>Источники: docs/evaluation-v8/DEADLINE_1330_REPORT.md, deadline-1330-results.json, deadline-1330-targeted-fixes.json. Контроль cadaa8a 24 сценария, TM92.869565/23 оценки, 20/24≥85, H0/23,1тайм-аут. Финальная b899b40: СПЛ87 и ГДК90, H0/2. 24+2 прочитаны вручную. 92.9 не относится ко всему регрессу финальной сборки.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 Команда · 4:20–4:35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Я отвечал за техническую реализацию и тестовый фреймворк. Владимир Линьков — за разбор отчётов, продуктовые критерии и рубрику оценки. Владимир Тимошенко — за бизнес-требования кейса и материалы защиты.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[Справка, не читать]</a:t>
            </a:r>
            <a:endParaRPr/>
          </a:p>
          <a:p xmlns:a="http://schemas.openxmlformats.org/drawingml/2006/main">
            <a:r>
              <a:t>Источник: пользовательская презафин.pptx, исходный слайд Команда. Роли участников сохранены.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9. Следующий шаг · 4:35–5:00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Дальше — источник данных банка, независимая приёмка, полный регресс финальной сборки и проверка со специалистами. В пилоте измерим, помогает ли агент быстрее разбираться в отчёте и возвращаются ли пользователи.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А сейчас покажу конкретный вопрос по одной компании, затем выбор между двумя. Посмотрим, как данные отчёта превращаются в ответ на задачу пользователя.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[Справка, не читать]</a:t>
            </a:r>
            <a:endParaRPr/>
          </a:p>
          <a:p xmlns:a="http://schemas.openxmlformats.org/drawingml/2006/main">
            <a:r>
              <a:t>Источники: docs/evaluation-v7/ACCEPTANCE_PLAN.md, docs/evaluation-v8/DEADLINE_1330_REPORT.md, ARCHITECTURE.md. Ограниченный контроль перед демо не является промышленной приёмкой.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97a440fcf4d5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ef2701cf0549db" /><Relationship Type="http://schemas.openxmlformats.org/officeDocument/2006/relationships/slideLayout" Target="/ppt/slideLayouts/slideLayout1.xml" Id="R47122fe127e34d2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122fe127e34d2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61df846104197" /><Relationship Type="http://schemas.openxmlformats.org/officeDocument/2006/relationships/image" Target="/ppt/media/image.png" Id="Rbb4aa3f9769f4472" /><Relationship Type="http://schemas.openxmlformats.org/officeDocument/2006/relationships/notesSlide" Target="/ppt/notesSlides/notesSlide1.xml" Id="R2afe1b8245ea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38fa1f6b149b2" /><Relationship Type="http://schemas.openxmlformats.org/officeDocument/2006/relationships/image" Target="/ppt/media/image2.png" Id="Rf4b28849ecaf40ca" /><Relationship Type="http://schemas.openxmlformats.org/officeDocument/2006/relationships/notesSlide" Target="/ppt/notesSlides/notesSlide2.xml" Id="R694655860e3f42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52fa2db104095" /><Relationship Type="http://schemas.openxmlformats.org/officeDocument/2006/relationships/image" Target="/ppt/media/image3.png" Id="R9f82e034ec1248f2" /><Relationship Type="http://schemas.openxmlformats.org/officeDocument/2006/relationships/notesSlide" Target="/ppt/notesSlides/notesSlide3.xml" Id="R56de072946d944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a31ca25fc4d91" /><Relationship Type="http://schemas.openxmlformats.org/officeDocument/2006/relationships/image" Target="/ppt/media/image4.png" Id="R501e2d3ea01f4255" /><Relationship Type="http://schemas.openxmlformats.org/officeDocument/2006/relationships/notesSlide" Target="/ppt/notesSlides/notesSlide4.xml" Id="R9d294178b3374c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2f6a0c4f849e0" /><Relationship Type="http://schemas.openxmlformats.org/officeDocument/2006/relationships/image" Target="/ppt/media/image5.png" Id="Ra3e41b60086342b9" /><Relationship Type="http://schemas.openxmlformats.org/officeDocument/2006/relationships/notesSlide" Target="/ppt/notesSlides/notesSlide5.xml" Id="R85ee27fa0a6648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2fa5d92af454c" /><Relationship Type="http://schemas.openxmlformats.org/officeDocument/2006/relationships/image" Target="/ppt/media/image6.png" Id="R7e256a371f8b494b" /><Relationship Type="http://schemas.openxmlformats.org/officeDocument/2006/relationships/notesSlide" Target="/ppt/notesSlides/notesSlide6.xml" Id="R5fbc27db8bc243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d1e92428a4e2f" /><Relationship Type="http://schemas.openxmlformats.org/officeDocument/2006/relationships/image" Target="/ppt/media/image7.png" Id="Rbd3777b1b1644ed1" /><Relationship Type="http://schemas.openxmlformats.org/officeDocument/2006/relationships/notesSlide" Target="/ppt/notesSlides/notesSlide7.xml" Id="Rc0d18ae86cf54a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21215c4414a56" /><Relationship Type="http://schemas.openxmlformats.org/officeDocument/2006/relationships/image" Target="/ppt/media/image8.png" Id="R7283dcf682f84653" /><Relationship Type="http://schemas.openxmlformats.org/officeDocument/2006/relationships/notesSlide" Target="/ppt/notesSlides/notesSlide8.xml" Id="R49db84e9dc3048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b7bfccc104cb3" /><Relationship Type="http://schemas.openxmlformats.org/officeDocument/2006/relationships/image" Target="/ppt/media/image9.png" Id="R664eb0a86d764ba6" /><Relationship Type="http://schemas.openxmlformats.org/officeDocument/2006/relationships/notesSlide" Target="/ppt/notesSlides/notesSlide9.xml" Id="R9c6d196f709b4b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CFB766-A1A8-4971-9BF6-89FCECE6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5530"/>
            <a:ext cx="5592128" cy="942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396"/>
              </a:lnSpc>
              <a:buNone/>
            </a:pPr>
            <a:r>
              <a:rPr sz="2850" spc="-29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Проверка контрагента по отчёту банка перед сделкой</a:t>
            </a:r>
            <a:endParaRPr sz="2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BAA6F37-BCC7-46D8-B1E3-3ABDC844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9505"/>
            <a:ext cx="12573000" cy="16679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6564"/>
              </a:lnSpc>
              <a:buNone/>
            </a:pPr>
            <a:r>
              <a:rPr sz="13950" b="1" spc="-488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Контрагент</a:t>
            </a:r>
            <a:endParaRPr sz="13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BAEBD5-C0DF-4995-A441-7226055C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58496"/>
            <a:ext cx="1257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>
                <a:solidFill>
                  <a:srgbClr val="FFFFFF">
                    <a:alpha val="85000"/>
                  </a:srgbClr>
                </a:solidFill>
                <a:latin typeface="Golos Text"/>
                <a:ea typeface="Golos Text"/>
                <a:cs typeface="Golos Text"/>
              </a:rPr>
              <a:t>Demo Day · защита прототипа</a:t>
            </a:r>
            <a:endParaRPr sz="2250"/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aa3f9769f44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54000" y="2363912"/>
            <a:ext cx="4953000" cy="55591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74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28849ecaf40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40200" y="609600"/>
            <a:ext cx="495300" cy="75790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A00B9EA-92E5-470B-ACE3-BB38FA4A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543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692"/>
              </a:lnSpc>
              <a:buNone/>
            </a:pPr>
            <a:r>
              <a:rPr sz="5700" b="1" spc="-142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Проблема и ценность</a:t>
            </a:r>
            <a:endParaRPr sz="57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14BF195-6839-415B-80FE-2E1587A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4456"/>
            <a:ext cx="8591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11250" b="1" spc="-337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30 из 158</a:t>
            </a:r>
            <a:endParaRPr sz="112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AC7629D-8EE0-4AEF-B760-DC33050C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0831"/>
            <a:ext cx="8044815" cy="1195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5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компаний с зелёной меткой: блокировка счетов, массовый адрес, недостоверные данные. У трёх банкротство</a:t>
            </a:r>
            <a:endParaRPr sz="22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D5C94A2-C548-4B04-B3E3-EAB3DCCB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04456"/>
            <a:ext cx="8591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11250" b="1" spc="-337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в 30 раз</a:t>
            </a:r>
            <a:endParaRPr sz="1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7333323-E7DF-4401-B3BD-D7624BC3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80831"/>
            <a:ext cx="8044815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5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меньше текста: 62 000 знаков отчёта против 2 000 на первом экране агента</a:t>
            </a:r>
            <a:endParaRPr sz="22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D93A5B7-AF35-4083-AED5-1E5804DB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23919"/>
            <a:ext cx="1638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C9B028D-048A-4931-8E2D-0068F27C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62069"/>
            <a:ext cx="859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ПРОБЛЕМА</a:t>
            </a:r>
            <a:endParaRPr sz="19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285DC20-FE1E-4DF7-8C5F-231A09F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90694"/>
            <a:ext cx="8044815" cy="12724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208"/>
              </a:lnSpc>
              <a:buNone/>
            </a:pPr>
            <a:r>
              <a:rPr sz="2400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В отчёте девять разделов, и пользователь смотрит только на светофор. Важный факт лежит ниже, а отсутствие данных читается как отсутствие риска.</a:t>
            </a:r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3392B07-8E4B-41E0-86E6-DF82EC4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862069"/>
            <a:ext cx="859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ЦЕННОСТЬ</a:t>
            </a:r>
            <a:endParaRPr sz="19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406F5ED-8BF2-43E3-902C-153B5ABA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290694"/>
            <a:ext cx="8044815" cy="12724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208"/>
              </a:lnSpc>
              <a:buNone/>
            </a:pPr>
            <a:r>
              <a:rPr sz="2400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Контрагент отвечает на вопрос, с которым пришли: подтверждённые факты с основанием в отчёте, пробелы в данных и что запросить у контрагента.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40807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">
            <a:extLst xmlns:a="http://schemas.openxmlformats.org/drawingml/2006/main">
              <a:ext uri="{FF2B5EF4-FFF2-40B4-BE49-F238E27FC236}">
                <a16:creationId xmlns:a16="http://schemas.microsoft.com/office/drawing/2014/main" id="{9F694FED-8153-4C66-B57B-C1A35E5C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0000"/>
                </a:solidFill>
                <a:latin typeface="Golos Text"/>
                <a:ea typeface="Golos Text"/>
                <a:cs typeface="Golos Text"/>
              </a:defRPr>
            </a:pPr>
            <a:r>
              <a:rPr sz="5250" b="1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Как работает агент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798EC1-C008-40D5-8953-C7308037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6335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GPT-OSS-20B через Polza. Модель понимает вопрос, код считает и проверяет факты.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2e034ec1248f2"/>
          <a:stretch xmlns:a="http://schemas.openxmlformats.org/drawingml/2006/main"/>
        </p:blipFill>
        <p:spPr>
          <a:xfrm xmlns:a="http://schemas.openxmlformats.org/drawingml/2006/main">
            <a:off x="16840218" y="609600"/>
            <a:ext cx="495264" cy="757904"/>
          </a:xfrm>
          <a:prstGeom xmlns:a="http://schemas.openxmlformats.org/drawingml/2006/main" prst="rect">
            <a:avLst/>
          </a:prstGeom>
        </p:spPr>
      </p:pic>
      <p:sp>
        <p:nvSpPr>
          <p:cNvPr id="4" name="user">
            <a:extLst xmlns:a="http://schemas.openxmlformats.org/drawingml/2006/main">
              <a:ext uri="{FF2B5EF4-FFF2-40B4-BE49-F238E27FC236}">
                <a16:creationId xmlns:a16="http://schemas.microsoft.com/office/drawing/2014/main" id="{43A03B0B-E180-418D-8D74-A8667914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4288">
            <a:solidFill>
              <a:srgbClr val="E3E3E3"/>
            </a:solidFill>
          </a:ln>
        </p:spPr>
      </p:sp>
      <p:sp>
        <p:nvSpPr>
          <p:cNvPr id="5" name="user-title">
            <a:extLst xmlns:a="http://schemas.openxmlformats.org/drawingml/2006/main">
              <a:ext uri="{FF2B5EF4-FFF2-40B4-BE49-F238E27FC236}">
                <a16:creationId xmlns:a16="http://schemas.microsoft.com/office/drawing/2014/main" id="{54FD79CC-1AD9-4FFE-825F-6127221F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Вопрос</a:t>
            </a:r>
          </a:p>
        </p:txBody>
      </p:sp>
      <p:sp>
        <p:nvSpPr>
          <p:cNvPr id="6" name="user-body">
            <a:extLst xmlns:a="http://schemas.openxmlformats.org/drawingml/2006/main">
              <a:ext uri="{FF2B5EF4-FFF2-40B4-BE49-F238E27FC236}">
                <a16:creationId xmlns:a16="http://schemas.microsoft.com/office/drawing/2014/main" id="{184677DC-17F4-49E6-8875-BF5F8D3C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2190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Компания и</a:t>
            </a:r>
          </a:p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история чата</a:t>
            </a:r>
          </a:p>
        </p:txBody>
      </p:sp>
      <p:sp>
        <p:nvSpPr>
          <p:cNvPr id="7" name="agent">
            <a:extLst xmlns:a="http://schemas.openxmlformats.org/drawingml/2006/main">
              <a:ext uri="{FF2B5EF4-FFF2-40B4-BE49-F238E27FC236}">
                <a16:creationId xmlns:a16="http://schemas.microsoft.com/office/drawing/2014/main" id="{341B4198-9B3F-46E0-825C-0853B0CF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9087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14288">
            <a:solidFill>
              <a:srgbClr val="F3BCB6"/>
            </a:solidFill>
          </a:ln>
        </p:spPr>
      </p:sp>
      <p:sp>
        <p:nvSpPr>
          <p:cNvPr id="8" name="agent-title">
            <a:extLst xmlns:a="http://schemas.openxmlformats.org/drawingml/2006/main">
              <a:ext uri="{FF2B5EF4-FFF2-40B4-BE49-F238E27FC236}">
                <a16:creationId xmlns:a16="http://schemas.microsoft.com/office/drawing/2014/main" id="{39EC68B0-FD81-4ED1-B2E6-F43B9DEA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F3124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GPT-OSS-20B</a:t>
            </a:r>
          </a:p>
        </p:txBody>
      </p:sp>
      <p:sp>
        <p:nvSpPr>
          <p:cNvPr id="9" name="agent-body">
            <a:extLst xmlns:a="http://schemas.openxmlformats.org/drawingml/2006/main">
              <a:ext uri="{FF2B5EF4-FFF2-40B4-BE49-F238E27FC236}">
                <a16:creationId xmlns:a16="http://schemas.microsoft.com/office/drawing/2014/main" id="{57EC5C78-5B54-4AA8-A939-A0EF5FDF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57675"/>
            <a:ext cx="2571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Понимает вопрос,</a:t>
            </a:r>
          </a:p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выбирает чтения</a:t>
            </a:r>
          </a:p>
        </p:txBody>
      </p:sp>
      <p:sp>
        <p:nvSpPr>
          <p:cNvPr id="10" name="tools">
            <a:extLst xmlns:a="http://schemas.openxmlformats.org/drawingml/2006/main">
              <a:ext uri="{FF2B5EF4-FFF2-40B4-BE49-F238E27FC236}">
                <a16:creationId xmlns:a16="http://schemas.microsoft.com/office/drawing/2014/main" id="{8C0BA96C-3F5A-470C-A006-8A5AFECD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9087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4288">
            <a:solidFill>
              <a:srgbClr val="E3E3E3"/>
            </a:solidFill>
          </a:ln>
        </p:spPr>
      </p:sp>
      <p:sp>
        <p:nvSpPr>
          <p:cNvPr id="11" name="tools-title">
            <a:extLst xmlns:a="http://schemas.openxmlformats.org/drawingml/2006/main">
              <a:ext uri="{FF2B5EF4-FFF2-40B4-BE49-F238E27FC236}">
                <a16:creationId xmlns:a16="http://schemas.microsoft.com/office/drawing/2014/main" id="{16929791-D4F7-4CBF-8AE1-113F8180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MCP и код</a:t>
            </a:r>
          </a:p>
        </p:txBody>
      </p:sp>
      <p:sp>
        <p:nvSpPr>
          <p:cNvPr id="12" name="tools-body">
            <a:extLst xmlns:a="http://schemas.openxmlformats.org/drawingml/2006/main">
              <a:ext uri="{FF2B5EF4-FFF2-40B4-BE49-F238E27FC236}">
                <a16:creationId xmlns:a16="http://schemas.microsoft.com/office/drawing/2014/main" id="{113BE6D2-55F6-4BC8-A497-6E004B0A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2571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Чтение отчёта,</a:t>
            </a:r>
          </a:p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расчёты и сигналы</a:t>
            </a:r>
          </a:p>
        </p:txBody>
      </p:sp>
      <p:sp>
        <p:nvSpPr>
          <p:cNvPr id="13" name="compose">
            <a:extLst xmlns:a="http://schemas.openxmlformats.org/drawingml/2006/main">
              <a:ext uri="{FF2B5EF4-FFF2-40B4-BE49-F238E27FC236}">
                <a16:creationId xmlns:a16="http://schemas.microsoft.com/office/drawing/2014/main" id="{2FDFACE1-524E-4F67-823A-131CA50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90875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4288">
            <a:solidFill>
              <a:srgbClr val="E3E3E3"/>
            </a:solidFill>
          </a:ln>
        </p:spPr>
      </p:sp>
      <p:sp>
        <p:nvSpPr>
          <p:cNvPr id="14" name="compose-title">
            <a:extLst xmlns:a="http://schemas.openxmlformats.org/drawingml/2006/main">
              <a:ext uri="{FF2B5EF4-FFF2-40B4-BE49-F238E27FC236}">
                <a16:creationId xmlns:a16="http://schemas.microsoft.com/office/drawing/2014/main" id="{E12D7B13-B7FF-40B7-B0BC-4579897B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099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Ответ</a:t>
            </a:r>
          </a:p>
        </p:txBody>
      </p:sp>
      <p:sp>
        <p:nvSpPr>
          <p:cNvPr id="15" name="compose-body">
            <a:extLst xmlns:a="http://schemas.openxmlformats.org/drawingml/2006/main">
              <a:ext uri="{FF2B5EF4-FFF2-40B4-BE49-F238E27FC236}">
                <a16:creationId xmlns:a16="http://schemas.microsoft.com/office/drawing/2014/main" id="{A26E66C6-6394-4676-9450-C311E508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257675"/>
            <a:ext cx="2190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Объяснение</a:t>
            </a:r>
          </a:p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и факты отчёта</a:t>
            </a:r>
          </a:p>
        </p:txBody>
      </p:sp>
      <p:sp>
        <p:nvSpPr>
          <p:cNvPr id="16" name="validate">
            <a:extLst xmlns:a="http://schemas.openxmlformats.org/drawingml/2006/main">
              <a:ext uri="{FF2B5EF4-FFF2-40B4-BE49-F238E27FC236}">
                <a16:creationId xmlns:a16="http://schemas.microsoft.com/office/drawing/2014/main" id="{17DB7C12-04D4-439E-9A38-46E08E49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190875"/>
            <a:ext cx="266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4288">
            <a:solidFill>
              <a:srgbClr val="E3E3E3"/>
            </a:solidFill>
          </a:ln>
        </p:spPr>
      </p:sp>
      <p:sp>
        <p:nvSpPr>
          <p:cNvPr id="17" name="validate-title">
            <a:extLst xmlns:a="http://schemas.openxmlformats.org/drawingml/2006/main">
              <a:ext uri="{FF2B5EF4-FFF2-40B4-BE49-F238E27FC236}">
                <a16:creationId xmlns:a16="http://schemas.microsoft.com/office/drawing/2014/main" id="{A008783D-9C81-4F45-B8FB-E36D8B36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4099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Проверки</a:t>
            </a:r>
          </a:p>
        </p:txBody>
      </p:sp>
      <p:sp>
        <p:nvSpPr>
          <p:cNvPr id="18" name="validate-body">
            <a:extLst xmlns:a="http://schemas.openxmlformats.org/drawingml/2006/main">
              <a:ext uri="{FF2B5EF4-FFF2-40B4-BE49-F238E27FC236}">
                <a16:creationId xmlns:a16="http://schemas.microsoft.com/office/drawing/2014/main" id="{7147131B-C6C2-4527-B772-DA9F3B39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257675"/>
            <a:ext cx="2286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Компания, ссылки,</a:t>
            </a:r>
          </a:p>
          <a:p xmlns:a="http://schemas.openxmlformats.org/drawingml/2006/main">
            <a:pPr>
              <a:def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суммы и даты</a:t>
            </a:r>
          </a:p>
        </p:txBody>
      </p:sp>
      <p:cxnSp>
        <p:nvCxnSpPr>
          <p:cNvPr id="5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24250" y="4286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7676"/>
            </a:solidFill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43750" y="4286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7676"/>
            </a:solidFill>
            <a:headEnd type="arrow" w="med" len="me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0763250" y="4286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7676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4001750" y="4286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7676"/>
            </a:solidFill>
            <a:tailEnd type="arrow" w="med" len="med"/>
          </a:ln>
        </p:spPr>
      </p:cxn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9499C97-6A9A-4E20-9A20-D8C32B16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00750"/>
            <a:ext cx="45720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E3E3"/>
            </a:solidFill>
          </a:ln>
        </p:spPr>
      </p:sp>
      <p:sp>
        <p:nvSpPr>
          <p:cNvPr id="24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49F78E27-F4E6-4053-B420-C61F8B66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1817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175" b="1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200 отчётов в JSON / CSV</a:t>
            </a:r>
          </a:p>
        </p:txBody>
      </p:sp>
      <p:sp>
        <p:nvSpPr>
          <p:cNvPr id="25" name="source-body">
            <a:extLst xmlns:a="http://schemas.openxmlformats.org/drawingml/2006/main">
              <a:ext uri="{FF2B5EF4-FFF2-40B4-BE49-F238E27FC236}">
                <a16:creationId xmlns:a16="http://schemas.microsoft.com/office/drawing/2014/main" id="{7D35A203-A94A-4887-9F5D-6C1F7A9E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6198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Структурированная выгрузка банка</a:t>
            </a:r>
          </a:p>
        </p:txBody>
      </p:sp>
      <p:cxnSp>
        <p:nvCxnSpPr>
          <p:cNvPr id="58" name=""/>
          <p:cNvCxnSpPr>
            <a:stCxn xmlns:a="http://schemas.openxmlformats.org/drawingml/2006/main" id="23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9286875" y="53816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7676"/>
            </a:solidFill>
            <a:tailEnd type="arrow" w="med" len="med"/>
          </a:ln>
        </p:spPr>
      </p:cxnSp>
      <p:sp>
        <p:nvSpPr>
          <p:cNvPr id="27" name="retry">
            <a:extLst xmlns:a="http://schemas.openxmlformats.org/drawingml/2006/main">
              <a:ext uri="{FF2B5EF4-FFF2-40B4-BE49-F238E27FC236}">
                <a16:creationId xmlns:a16="http://schemas.microsoft.com/office/drawing/2014/main" id="{E6409B56-1D30-43C4-9847-8B7A9CD2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057900"/>
            <a:ext cx="5572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При ошибке: одна попытка исправления.</a:t>
            </a:r>
          </a:p>
          <a:p xmlns:a="http://schemas.openxmlformats.org/drawingml/2006/main">
            <a:pPr>
              <a:defRPr sz="202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02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Далее итоговый ответ и сохранение чата.</a:t>
            </a:r>
          </a:p>
        </p:txBody>
      </p:sp>
      <p:sp>
        <p:nvSpPr>
          <p:cNvPr id="28" name="deterministic-note">
            <a:extLst xmlns:a="http://schemas.openxmlformats.org/drawingml/2006/main">
              <a:ext uri="{FF2B5EF4-FFF2-40B4-BE49-F238E27FC236}">
                <a16:creationId xmlns:a16="http://schemas.microsoft.com/office/drawing/2014/main" id="{86CACBD0-CA60-4D8E-82F2-2BFA3B78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15050"/>
            <a:ext cx="500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17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Карточки и точные справки</a:t>
            </a:r>
          </a:p>
          <a:p xmlns:a="http://schemas.openxmlformats.org/drawingml/2006/main">
            <a:pPr>
              <a:defRPr sz="217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17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могут обходиться без LLM.</a:t>
            </a:r>
          </a:p>
        </p:txBody>
      </p:sp>
      <p:sp>
        <p:nvSpPr>
          <p:cNvPr id="29" name="horizontal-rule">
            <a:extLst xmlns:a="http://schemas.openxmlformats.org/drawingml/2006/main">
              <a:ext uri="{FF2B5EF4-FFF2-40B4-BE49-F238E27FC236}">
                <a16:creationId xmlns:a16="http://schemas.microsoft.com/office/drawing/2014/main" id="{2D5B3393-207B-404D-B822-17BA8FAA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05725"/>
            <a:ext cx="1638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14288">
            <a:solidFill>
              <a:srgbClr val="E3E3E3"/>
            </a:solidFill>
          </a:ln>
        </p:spPr>
      </p:sp>
      <p:sp>
        <p:nvSpPr>
          <p:cNvPr id="30" name="qa-label">
            <a:extLst xmlns:a="http://schemas.openxmlformats.org/drawingml/2006/main">
              <a:ext uri="{FF2B5EF4-FFF2-40B4-BE49-F238E27FC236}">
                <a16:creationId xmlns:a16="http://schemas.microsoft.com/office/drawing/2014/main" id="{9B6ECBC1-F2CB-46D8-A7AC-CF763BEC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F3124"/>
                </a:solidFill>
                <a:latin typeface="Golos Text"/>
                <a:ea typeface="Golos Text"/>
                <a:cs typeface="Golos Text"/>
              </a:defRPr>
            </a:pPr>
            <a:r>
              <a:rPr sz="2025" b="1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ТЕСТИРОВАНИЕ ОТДЕЛЬНО</a:t>
            </a:r>
          </a:p>
        </p:txBody>
      </p:sp>
      <p:sp>
        <p:nvSpPr>
          <p:cNvPr id="31" name="qa">
            <a:extLst xmlns:a="http://schemas.openxmlformats.org/drawingml/2006/main">
              <a:ext uri="{FF2B5EF4-FFF2-40B4-BE49-F238E27FC236}">
                <a16:creationId xmlns:a16="http://schemas.microsoft.com/office/drawing/2014/main" id="{D8899BEE-A23D-408D-92BD-8848EC90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34425"/>
            <a:ext cx="1638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400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Сценарий и трасса инструментов → GLM 5.3 Flash → score и флаги галлюцинаций</a:t>
            </a:r>
          </a:p>
        </p:txBody>
      </p:sp>
      <p:sp>
        <p:nvSpPr>
          <p:cNvPr id="32" name="integration-note">
            <a:extLst xmlns:a="http://schemas.openxmlformats.org/drawingml/2006/main">
              <a:ext uri="{FF2B5EF4-FFF2-40B4-BE49-F238E27FC236}">
                <a16:creationId xmlns:a16="http://schemas.microsoft.com/office/drawing/2014/main" id="{247C7EEC-DF38-4AD5-A4C9-30BE6CBD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439275"/>
            <a:ext cx="1638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187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Промышленный API банка ещё нужно согласовать. MCP сам по себе не читает сырую PDF.</a:t>
            </a:r>
          </a:p>
        </p:txBody>
      </p:sp>
    </p:spTree>
    <p:extLst>
      <p:ext uri="{BB962C8B-B14F-4D97-AF65-F5344CB8AC3E}">
        <p14:creationId xmlns:p14="http://schemas.microsoft.com/office/powerpoint/2010/main" val="576182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8B87068-E0E3-4510-A3E5-838E212B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0000"/>
                </a:solidFill>
                <a:latin typeface="Golos Text"/>
                <a:ea typeface="Golos Text"/>
                <a:cs typeface="Golos Text"/>
              </a:defRPr>
            </a:pPr>
            <a:r>
              <a:rPr sz="5250" b="1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От 50 вопросов к полному регрессу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D32FAA-CBA5-4798-89AA-B3E059EA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6335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v1–v7. Историческая оценка судьи: балл 0–5 × 20. Это ещё не trajectory match.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e2d3ea01f4255"/>
          <a:stretch xmlns:a="http://schemas.openxmlformats.org/drawingml/2006/main"/>
        </p:blipFill>
        <p:spPr>
          <a:xfrm xmlns:a="http://schemas.openxmlformats.org/drawingml/2006/main">
            <a:off x="16840218" y="609600"/>
            <a:ext cx="495264" cy="757904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16383000" cy="5829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3143250"/>
                <a:gridCol w="1809750"/>
                <a:gridCol w="2381250"/>
                <a:gridCol w="2333625"/>
                <a:gridCol w="4000500"/>
              </a:tblGrid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Версия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Модель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Вопросов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Балл / 100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Флаги, %¹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Судья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Контроль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DeepSeek V4 Flash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50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88,8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2%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GPT-OSS-120B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v1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50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70,8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6%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GPT-OSS-120B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v2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50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90,4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0%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GPT-OSS-120B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v3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GPT-OSS-120B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202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82,2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≈4%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Qwen3-235B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v4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GPT-OSS-120B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219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79,6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≈3%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Qwen3-235B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v5, первая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GPT-OSS-120B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219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80,2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≈4%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Qwen3-235B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v5, итог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GPT-OSS-120B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219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81,8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≈3%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Qwen3-235B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v6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GPT-OSS-120B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219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83,6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5,48%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Qwen3-235B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v6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GPT-OSS-20B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219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80,8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6,45%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Qwen3-235B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v7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GPT-OSS-120B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219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EF3124"/>
                          </a:solidFill>
                          <a:latin typeface="Golos Text"/>
                          <a:ea typeface="Golos Text"/>
                          <a:cs typeface="Golos Text"/>
                        </a:rPr>
                        <a:t>90,2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0,91%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Qwen3-235B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v7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GPT-OSS-20B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219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EF3124"/>
                          </a:solidFill>
                          <a:latin typeface="Golos Text"/>
                          <a:ea typeface="Golos Text"/>
                          <a:cs typeface="Golos Text"/>
                        </a:rPr>
                        <a:t>91,6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0%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Qwen3-235B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</a:tr>
            </a:tbl>
          </a:graphicData>
        </a:graphic>
      </p:graphicFrame>
      <p:sp>
        <p:nvSpPr>
          <p:cNvPr id="5" name="legacy-note">
            <a:extLst xmlns:a="http://schemas.openxmlformats.org/drawingml/2006/main">
              <a:ext uri="{FF2B5EF4-FFF2-40B4-BE49-F238E27FC236}">
                <a16:creationId xmlns:a16="http://schemas.microsoft.com/office/drawing/2014/main" id="{154F113A-8500-4BA0-8E25-A77F69B7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01100"/>
            <a:ext cx="1638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¹ Ранний этап: выдумки. v3–v7: выдумки или ложная тревога. Судья и покрытие менялись.</a:t>
            </a:r>
          </a:p>
        </p:txBody>
      </p:sp>
      <p:sp>
        <p:nvSpPr>
          <p:cNvPr id="6" name="legacy-repeats">
            <a:extLst xmlns:a="http://schemas.openxmlformats.org/drawingml/2006/main">
              <a:ext uri="{FF2B5EF4-FFF2-40B4-BE49-F238E27FC236}">
                <a16:creationId xmlns:a16="http://schemas.microsoft.com/office/drawing/2014/main" id="{C5C81AF9-2284-449C-B282-272C840B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24975"/>
            <a:ext cx="1638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025" b="1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v7: 1 044 запуска с повторами. В 77 карточках обе модели сохранили обязательные факты.</a:t>
            </a:r>
          </a:p>
        </p:txBody>
      </p:sp>
    </p:spTree>
    <p:extLst>
      <p:ext uri="{BB962C8B-B14F-4D97-AF65-F5344CB8AC3E}">
        <p14:creationId xmlns:p14="http://schemas.microsoft.com/office/powerpoint/2010/main" val="2106159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459F0E96-E9C8-4C6E-8636-753A2A04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0000"/>
                </a:solidFill>
                <a:latin typeface="Golos Text"/>
                <a:ea typeface="Golos Text"/>
                <a:cs typeface="Golos Text"/>
              </a:defRPr>
            </a:pPr>
            <a:r>
              <a:rPr sz="5250" b="1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Почему перешли к score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04354B-2FC7-41DE-AC7B-C800F07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6335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v8. Trajectory match, режим hard. Судья GLM 5.3 Flash из другого семейства.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41b60086342b9"/>
          <a:stretch xmlns:a="http://schemas.openxmlformats.org/drawingml/2006/main"/>
        </p:blipFill>
        <p:spPr>
          <a:xfrm xmlns:a="http://schemas.openxmlformats.org/drawingml/2006/main">
            <a:off x="16840218" y="609600"/>
            <a:ext cx="495264" cy="757904"/>
          </a:xfrm>
          <a:prstGeom xmlns:a="http://schemas.openxmlformats.org/drawingml/2006/main" prst="rect">
            <a:avLst/>
          </a:prstGeom>
        </p:spPr>
      </p:pic>
      <p:sp>
        <p:nvSpPr>
          <p:cNvPr id="4" name="old-label">
            <a:extLst xmlns:a="http://schemas.openxmlformats.org/drawingml/2006/main">
              <a:ext uri="{FF2B5EF4-FFF2-40B4-BE49-F238E27FC236}">
                <a16:creationId xmlns:a16="http://schemas.microsoft.com/office/drawing/2014/main" id="{F38F4F4A-AD12-4FAC-AF36-EB4DACB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925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Раньше</a:t>
            </a:r>
          </a:p>
        </p:txBody>
      </p:sp>
      <p:sp>
        <p:nvSpPr>
          <p:cNvPr id="5" name="old-body">
            <a:extLst xmlns:a="http://schemas.openxmlformats.org/drawingml/2006/main">
              <a:ext uri="{FF2B5EF4-FFF2-40B4-BE49-F238E27FC236}">
                <a16:creationId xmlns:a16="http://schemas.microsoft.com/office/drawing/2014/main" id="{4FD9A709-CDA3-40CC-846A-BB59AD6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6572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3000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Составной «зачёт / незачёт»</a:t>
            </a:r>
          </a:p>
          <a:p xmlns:a="http://schemas.openxmlformats.org/drawingml/2006/main">
            <a:pPr>
              <a:defRPr sz="3000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3000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смешивал требования к форме</a:t>
            </a:r>
          </a:p>
          <a:p xmlns:a="http://schemas.openxmlformats.org/drawingml/2006/main">
            <a:pPr>
              <a:defRPr sz="3000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3000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с оценкой ответа.</a:t>
            </a:r>
          </a:p>
        </p:txBody>
      </p:sp>
      <p:sp>
        <p:nvSpPr>
          <p:cNvPr id="6" name="old-effect">
            <a:extLst xmlns:a="http://schemas.openxmlformats.org/drawingml/2006/main">
              <a:ext uri="{FF2B5EF4-FFF2-40B4-BE49-F238E27FC236}">
                <a16:creationId xmlns:a16="http://schemas.microsoft.com/office/drawing/2014/main" id="{EC1DF40E-7842-4E7B-84E8-83BC9173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030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Было трудно понять, почему диалог</a:t>
            </a:r>
          </a:p>
          <a:p xmlns:a="http://schemas.openxmlformats.org/drawingml/2006/main">
            <a:pPr>
              <a:def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не помог пользователю.</a:t>
            </a:r>
          </a:p>
        </p:txBody>
      </p:sp>
      <p:sp>
        <p:nvSpPr>
          <p:cNvPr id="7" name="new-label">
            <a:extLst xmlns:a="http://schemas.openxmlformats.org/drawingml/2006/main">
              <a:ext uri="{FF2B5EF4-FFF2-40B4-BE49-F238E27FC236}">
                <a16:creationId xmlns:a16="http://schemas.microsoft.com/office/drawing/2014/main" id="{2D2C7A89-143C-441F-9FF5-8AAAECC3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F3124"/>
                </a:solidFill>
                <a:latin typeface="Golos Text"/>
                <a:ea typeface="Golos Text"/>
                <a:cs typeface="Golos Text"/>
              </a:defRPr>
            </a:pPr>
            <a:r>
              <a:rPr sz="2925" b="1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Теперь</a:t>
            </a:r>
          </a:p>
        </p:txBody>
      </p:sp>
      <p:sp>
        <p:nvSpPr>
          <p:cNvPr id="8" name="new-score">
            <a:extLst xmlns:a="http://schemas.openxmlformats.org/drawingml/2006/main">
              <a:ext uri="{FF2B5EF4-FFF2-40B4-BE49-F238E27FC236}">
                <a16:creationId xmlns:a16="http://schemas.microsoft.com/office/drawing/2014/main" id="{81D27D06-0B21-4A09-AA05-4883DED2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75" b="1">
                <a:solidFill>
                  <a:srgbClr val="EF3124"/>
                </a:solidFill>
                <a:latin typeface="Golos Text"/>
                <a:ea typeface="Golos Text"/>
                <a:cs typeface="Golos Text"/>
              </a:defRPr>
            </a:pPr>
            <a:r>
              <a:rPr sz="7875" b="1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0–100</a:t>
            </a:r>
          </a:p>
        </p:txBody>
      </p:sp>
      <p:sp>
        <p:nvSpPr>
          <p:cNvPr id="9" name="new-body">
            <a:extLst xmlns:a="http://schemas.openxmlformats.org/drawingml/2006/main">
              <a:ext uri="{FF2B5EF4-FFF2-40B4-BE49-F238E27FC236}">
                <a16:creationId xmlns:a16="http://schemas.microsoft.com/office/drawing/2014/main" id="{3A4D943D-FE8E-42C9-86F2-561F7D91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838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550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Соответствие ответа и вызовов инструментов</a:t>
            </a:r>
          </a:p>
          <a:p xmlns:a="http://schemas.openxmlformats.org/drawingml/2006/main">
            <a:pPr>
              <a:defRPr sz="2550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550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эталону: аргументы, порядок и результат.</a:t>
            </a:r>
          </a:p>
          <a:p xmlns:a="http://schemas.openxmlformats.org/drawingml/2006/main">
            <a:pPr>
              <a:defRPr sz="2550" b="0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550" b="0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Целевой score — 85 и выше.</a:t>
            </a:r>
          </a:p>
        </p:txBody>
      </p:sp>
      <p:sp>
        <p:nvSpPr>
          <p:cNvPr id="10" name="horizontal-rule">
            <a:extLst xmlns:a="http://schemas.openxmlformats.org/drawingml/2006/main">
              <a:ext uri="{FF2B5EF4-FFF2-40B4-BE49-F238E27FC236}">
                <a16:creationId xmlns:a16="http://schemas.microsoft.com/office/drawing/2014/main" id="{EC7C097B-0628-4BBE-AE46-02A47969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67650"/>
            <a:ext cx="1638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  <a:ln xmlns:a="http://schemas.openxmlformats.org/drawingml/2006/main" w="14288">
            <a:solidFill>
              <a:srgbClr val="E3E3E3"/>
            </a:solidFill>
          </a:ln>
        </p:spPr>
      </p:sp>
      <p:sp>
        <p:nvSpPr>
          <p:cNvPr id="11" name="method-caution">
            <a:extLst xmlns:a="http://schemas.openxmlformats.org/drawingml/2006/main">
              <a:ext uri="{FF2B5EF4-FFF2-40B4-BE49-F238E27FC236}">
                <a16:creationId xmlns:a16="http://schemas.microsoft.com/office/drawing/2014/main" id="{741C9A3D-7738-45B7-9668-DA2989D3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10550"/>
            <a:ext cx="1638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2525"/>
                </a:solidFill>
                <a:latin typeface="Golos Text"/>
                <a:ea typeface="Golos Text"/>
                <a:cs typeface="Golos Text"/>
              </a:defRPr>
            </a:pPr>
            <a:r>
              <a:rPr sz="2400" b="1">
                <a:solidFill>
                  <a:srgbClr val="252525"/>
                </a:solidFill>
                <a:latin typeface="Golos Text"/>
                <a:ea typeface="Golos Text"/>
                <a:cs typeface="Golos Text"/>
              </a:rPr>
              <a:t>Score лучше описывает поведение агента. Точность самого судьи ещё нужно калибровать.</a:t>
            </a:r>
          </a:p>
        </p:txBody>
      </p:sp>
      <p:sp>
        <p:nvSpPr>
          <p:cNvPr id="12" name="method-measures">
            <a:extLst xmlns:a="http://schemas.openxmlformats.org/drawingml/2006/main">
              <a:ext uri="{FF2B5EF4-FFF2-40B4-BE49-F238E27FC236}">
                <a16:creationId xmlns:a16="http://schemas.microsoft.com/office/drawing/2014/main" id="{7AC3BEAE-2494-420F-8FB6-16C909B7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182100"/>
            <a:ext cx="1638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17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Отдельно: доля сценариев с галлюцинациями, покрытие оценками и ручная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182499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CE91A34-842D-485A-BDC7-2C821AE6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0000"/>
                </a:solidFill>
                <a:latin typeface="Golos Text"/>
                <a:ea typeface="Golos Text"/>
                <a:cs typeface="Golos Text"/>
              </a:defRPr>
            </a:pPr>
            <a:r>
              <a:rPr sz="5250" b="1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v8: все прогоны и исправления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FC670B-566D-4240-A892-FB0742BA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6335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325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Состав наборов и эталоны менялись. Строки показывают историю, а не единую кривую роста.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56a371f8b494b"/>
          <a:stretch xmlns:a="http://schemas.openxmlformats.org/drawingml/2006/main"/>
        </p:blipFill>
        <p:spPr>
          <a:xfrm xmlns:a="http://schemas.openxmlformats.org/drawingml/2006/main">
            <a:off x="16840218" y="609600"/>
            <a:ext cx="495264" cy="757904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3067050"/>
          <a:ext xmlns:a="http://schemas.openxmlformats.org/drawingml/2006/main" cx="16383000" cy="5219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762500"/>
                <a:gridCol w="2762250"/>
                <a:gridCol w="2667000"/>
                <a:gridCol w="3619500"/>
                <a:gridCol w="2571750"/>
              </a:tblGrid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Прогон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Выполнено / план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Score (оценок)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Галлюцинации (флаги)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Ошибки судьи</a:t>
                      </a:r>
                    </a:p>
                  </a:txBody>
                  <a:tcPr marL="133350" marR="95250" marT="38100" marB="38100" anchor="ctr">
                    <a:solidFill>
                      <a:srgbClr val="F0F0F0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Прямые ответы №1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16 / 16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88,9 (16)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8,33% (1/12)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4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Прямые ответы №2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16 / 16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93,6 (16)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0% (0/15)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1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Спорные случаи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7 / 7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90,1 (7)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28,57% (2/7)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Прямые ответы №3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16 / 16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89,6 (16)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6,25% (1/16)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Большой регресс*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123 / 219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92,2 (110)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0% (0/119)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15</a:t>
                      </a:r>
                    </a:p>
                  </a:txBody>
                  <a:tcPr marL="133350" marR="95250" marT="38100" marB="3810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Контроль перед демо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24 / 24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EF3124"/>
                          </a:solidFill>
                          <a:latin typeface="Golos Text"/>
                          <a:ea typeface="Golos Text"/>
                          <a:cs typeface="Golos Text"/>
                        </a:rPr>
                        <a:t>92,9 (23)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0% (0/23)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1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Повтор двух исправлений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 / 2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EF3124"/>
                          </a:solidFill>
                          <a:latin typeface="Golos Text"/>
                          <a:ea typeface="Golos Text"/>
                          <a:cs typeface="Golos Text"/>
                        </a:rPr>
                        <a:t>88,5 (2)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0% (0/2)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52525"/>
                          </a:solidFill>
                          <a:latin typeface="Golos Text"/>
                          <a:ea typeface="Golos Text"/>
                          <a:cs typeface="Golos Text"/>
                        </a:rPr>
                        <a:t>0</a:t>
                      </a:r>
                    </a:p>
                  </a:txBody>
                  <a:tcPr marL="133350" marR="95250" marT="38100" marB="38100" anchor="ctr">
                    <a:solidFill>
                      <a:srgbClr val="FFF1EF"/>
                    </a:solidFill>
                  </a:tcPr>
                </a:tc>
              </a:tr>
            </a:tbl>
          </a:graphicData>
        </a:graphic>
      </p:graphicFrame>
      <p:sp>
        <p:nvSpPr>
          <p:cNvPr id="5" name="partial-note">
            <a:extLst xmlns:a="http://schemas.openxmlformats.org/drawingml/2006/main">
              <a:ext uri="{FF2B5EF4-FFF2-40B4-BE49-F238E27FC236}">
                <a16:creationId xmlns:a16="http://schemas.microsoft.com/office/drawing/2014/main" id="{5B5DE193-ECE0-41C7-84BB-4115D1CF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29650"/>
            <a:ext cx="1638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100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* Большой прогон старой сборки остановили. 96 сценариев отложены.</a:t>
            </a:r>
          </a:p>
        </p:txBody>
      </p:sp>
      <p:sp>
        <p:nvSpPr>
          <p:cNvPr id="6" name="judge-note">
            <a:extLst xmlns:a="http://schemas.openxmlformats.org/drawingml/2006/main">
              <a:ext uri="{FF2B5EF4-FFF2-40B4-BE49-F238E27FC236}">
                <a16:creationId xmlns:a16="http://schemas.microsoft.com/office/drawing/2014/main" id="{F8C3664E-460F-4844-A497-61403CF5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48775"/>
            <a:ext cx="1638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100" b="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Флаги судьи сохранены, включая спорные. Среднее исключает отсутствующие оценки.</a:t>
            </a:r>
          </a:p>
        </p:txBody>
      </p:sp>
    </p:spTree>
    <p:extLst>
      <p:ext uri="{BB962C8B-B14F-4D97-AF65-F5344CB8AC3E}">
        <p14:creationId xmlns:p14="http://schemas.microsoft.com/office/powerpoint/2010/main" val="402447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777b1b1644e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40200" y="609600"/>
            <a:ext cx="495300" cy="75790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1401C5A-E13A-431C-8AB7-DA7E9630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543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692"/>
              </a:lnSpc>
              <a:buNone/>
            </a:pPr>
            <a:r>
              <a:rPr sz="5700" b="1" spc="-142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Контроль перед демонстрацией</a:t>
            </a:r>
            <a:endParaRPr sz="57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B30FAFF-2E5F-4C9E-B659-EF3A5C2A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638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GPT-OSS-20B, судья GLM 5.3 Flash, режим hard</a:t>
            </a:r>
            <a:endParaRPr sz="22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D33A87A-3615-4500-9057-D838BCC0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2779365"/>
            <a:ext cx="3708693" cy="35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5734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До двух правок</a:t>
            </a:r>
            <a:endParaRPr sz="2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AE0F00A-81C8-49EC-8FD8-2FF37E5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2779365"/>
            <a:ext cx="3708693" cy="35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5734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СПЛ: исправлено</a:t>
            </a:r>
            <a:endParaRPr sz="2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009D86A-8F9D-42C6-AEF6-B09E3D78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2779365"/>
            <a:ext cx="3708617" cy="35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5734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ГДК: исправлено</a:t>
            </a:r>
            <a:endParaRPr sz="21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8FE4349-8233-4EE8-AD2A-FFCABD66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9903"/>
            <a:ext cx="5580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B7731E9-FC99-4A48-932C-BE533F87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6603"/>
            <a:ext cx="536741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Trajectory match (0–100)</a:t>
            </a:r>
            <a:endParaRPr sz="22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275F8FC-E4CE-4FF5-9974-5328C7D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80" y="326990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89B01ED-61F0-4A50-A85F-70A348B8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353660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92,9</a:t>
            </a:r>
            <a:endParaRPr sz="48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A95D4F0-EA3C-4020-938D-1996C00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154" y="326990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6A15F9B-22EA-4E78-B790-9EAF4628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353660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87</a:t>
            </a:r>
            <a:endParaRPr sz="48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FA1FF57-E8C0-4325-BF3F-DD1DDEFB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827" y="3269903"/>
            <a:ext cx="36005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47B4116-8AD6-43A5-BF2B-6DBB5545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3536603"/>
            <a:ext cx="3708617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90</a:t>
            </a:r>
            <a:endParaRPr sz="48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DDD88B6-6191-4EFE-9B07-237C43E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3853"/>
            <a:ext cx="5580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893F24E-2730-48D4-B781-F965F460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0553"/>
            <a:ext cx="536741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Сценарии с галлюцинациями</a:t>
            </a:r>
            <a:endParaRPr sz="22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C872B50-5786-41BA-8DC3-06A17873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80" y="439385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303F1C2-EC4B-4C00-BA7E-B0A2D4CD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466055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0 %</a:t>
            </a:r>
            <a:endParaRPr sz="48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22D094C-68D5-4C78-B43A-740C8F8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154" y="439385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CF84FA9-A95C-41CE-A718-0725756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466055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0 %</a:t>
            </a:r>
            <a:endParaRPr sz="48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55516F6-1249-47EA-BCB7-8B0B0E0E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827" y="4393853"/>
            <a:ext cx="36005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E60FB69-EA51-4EC4-A886-8BB45B4D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4660553"/>
            <a:ext cx="3708617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0 %</a:t>
            </a:r>
            <a:endParaRPr sz="4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0C31CF0-DA51-4DAE-8589-0A60F062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7803"/>
            <a:ext cx="5580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716823A-8951-41C7-9AA0-6CB39758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84503"/>
            <a:ext cx="536741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Оценено диалогов</a:t>
            </a:r>
            <a:endParaRPr sz="22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607D0E0-DC68-4B35-84D7-36E4FF7C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80" y="551780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554BABB-DE2E-4E34-BA7C-C96CB174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5784503"/>
            <a:ext cx="3708693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23 / 24</a:t>
            </a:r>
            <a:endParaRPr sz="48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B93AD55-BED5-4597-B080-B0A19921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154" y="551780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5E2740F-82A9-48D7-B187-597A579C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5784503"/>
            <a:ext cx="3708693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1 / 1</a:t>
            </a:r>
            <a:endParaRPr sz="48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14B2BD88-1CFD-4D16-ABCE-204078E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827" y="5517803"/>
            <a:ext cx="36005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957AB5F-C87C-4F7A-B098-45631BB8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5784503"/>
            <a:ext cx="3708617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1 / 1</a:t>
            </a:r>
            <a:endParaRPr sz="48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9C46534-4E3E-4BA6-96EE-2B1B0D14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17953"/>
            <a:ext cx="5580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8988446-83C3-4AA4-9E2B-D5263832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84653"/>
            <a:ext cx="536741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Достигли целевого score ≥ 85</a:t>
            </a:r>
            <a:endParaRPr sz="22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40AD27A-9627-4550-BEFE-152D4F0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80" y="671795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70B88294-96DA-4781-97F9-91E0BDA0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698465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20 / 24</a:t>
            </a:r>
            <a:endParaRPr sz="48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932F921A-1239-4CFA-982F-3C11BA6B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154" y="671795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AA824E1-53EF-40C4-A743-4812E588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698465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1 / 1</a:t>
            </a:r>
            <a:endParaRPr sz="48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6E9AFF3-C0D0-4CF9-993F-979A0587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827" y="6717953"/>
            <a:ext cx="36005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05401537-36D4-423A-BAF8-820ECC2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6984653"/>
            <a:ext cx="3708617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1 / 1</a:t>
            </a:r>
            <a:endParaRPr sz="4800"/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99C5EE-D57A-4E66-BA11-F10060CA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86750"/>
            <a:ext cx="1638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Контроль: 1 тайм-аут судьи. 0% галлюцинаций относится к 23 оценённым диалогам.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0BE49D-819F-4D4C-ACB2-F1CA3A47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1638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Два повтора проверяют исправления. Полный регресс не завершён: 96 сценариев отложены.</a:t>
            </a:r>
          </a:p>
        </p:txBody>
      </p:sp>
    </p:spTree>
    <p:extLst>
      <p:ext uri="{BB962C8B-B14F-4D97-AF65-F5344CB8AC3E}">
        <p14:creationId xmlns:p14="http://schemas.microsoft.com/office/powerpoint/2010/main" val="491129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3dcf682f84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40200" y="609600"/>
            <a:ext cx="495300" cy="75790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14C72C6-587C-4C73-99F0-FFABE391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543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692"/>
              </a:lnSpc>
              <a:buNone/>
            </a:pPr>
            <a:r>
              <a:rPr sz="5700" b="1" spc="-142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Команда</a:t>
            </a:r>
            <a:endParaRPr sz="570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4B4FAFD-28AD-43B7-A326-0B30194D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8365"/>
            <a:ext cx="500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5924434-658E-47F5-8D11-9958FE5E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8415"/>
            <a:ext cx="550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01</a:t>
            </a:r>
            <a:endParaRPr sz="1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DFF3379-570F-4794-84C9-4504271F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4190"/>
            <a:ext cx="5504125" cy="499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190"/>
              </a:lnSpc>
              <a:buNone/>
            </a:pPr>
            <a:r>
              <a:rPr sz="3300" b="1" spc="-99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Алан Толпаров</a:t>
            </a:r>
            <a:endParaRPr sz="3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C86C8D-8B8F-4FE6-ACB0-ECA700D6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35685"/>
            <a:ext cx="550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AI Engineer</a:t>
            </a:r>
            <a:endParaRPr sz="2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A06469F-B2EF-42A9-BA9D-35DECDA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3385"/>
            <a:ext cx="5153863" cy="163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7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Слой данных, движок сигналов, MCP-сервер, агент, API и интерфейс, стенд. Фреймворк проверки, прогоны эталона, тесты.</a:t>
            </a:r>
            <a:endParaRPr sz="2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C4AE954-426F-4A37-8B50-039A0A7E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2398365"/>
            <a:ext cx="500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5730CD0-4C66-4BAE-86B0-AB33AAC2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2798415"/>
            <a:ext cx="5504207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02</a:t>
            </a:r>
            <a:endParaRPr sz="19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087729E-BFB0-4F47-9309-4B5FC3E6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3284190"/>
            <a:ext cx="5504207" cy="499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190"/>
              </a:lnSpc>
              <a:buNone/>
            </a:pPr>
            <a:r>
              <a:rPr sz="3300" b="1" spc="-99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Владимир Линьков</a:t>
            </a:r>
            <a:endParaRPr sz="3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B54EB2F-C217-49B3-92D2-EECDA31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3935685"/>
            <a:ext cx="5504207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AI Product</a:t>
            </a:r>
            <a:endParaRPr sz="22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FC9ECAC-3D3A-44AC-A3FA-63757FB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4583385"/>
            <a:ext cx="5153940" cy="163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7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Разбор 200 карточек, критерии оценки контрагента и рубрика оценки агента, финальные продуктовые материалы.</a:t>
            </a:r>
            <a:endParaRPr sz="2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2C3449A-5484-46AB-BB98-1716FF2A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2398365"/>
            <a:ext cx="500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03CA23F-7FDA-40E9-A304-202865C1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2798415"/>
            <a:ext cx="550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03</a:t>
            </a:r>
            <a:endParaRPr sz="19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DBD0F22-6641-47C4-BC24-4081369A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3284190"/>
            <a:ext cx="5504125" cy="499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190"/>
              </a:lnSpc>
              <a:buNone/>
            </a:pPr>
            <a:r>
              <a:rPr sz="3300" b="1" spc="-99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Владимир Тимошенко</a:t>
            </a:r>
            <a:endParaRPr sz="3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5AFEE2F-CC84-4965-9C1B-344E05D1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3935685"/>
            <a:ext cx="550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AI Engineer</a:t>
            </a:r>
            <a:endParaRPr sz="22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A394E7-166E-4847-B731-0348DFC2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4583385"/>
            <a:ext cx="5153863" cy="163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7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Бизнес-требования кейса и их связь с реализацией, материалы промежуточной сдачи, презентации.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0922154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BDB4074-C52A-45B9-9B74-0EF1BBA4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0395"/>
            <a:ext cx="11315700" cy="35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 spc="168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ПИЛОТ ВНУТРИ ОТЧЁТА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4AFD2C-CF65-405B-9758-02853C8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20482"/>
            <a:ext cx="11315700" cy="931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309"/>
              </a:lnSpc>
              <a:buNone/>
            </a:pPr>
            <a:r>
              <a:rPr sz="6900" b="1" spc="-207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Что дальше</a:t>
            </a:r>
            <a:endParaRPr sz="6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7B10CD-F65F-435A-97B8-C239DA8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95270"/>
            <a:ext cx="8829675" cy="912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1951"/>
              </a:lnSpc>
              <a:buNone/>
            </a:pPr>
            <a:r>
              <a:rPr sz="255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Встроить агента в страницу проверки контрагента и проверить на реальных клиентах.</a:t>
            </a:r>
            <a:endParaRPr sz="25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DC4C08-D2CE-49ED-8407-5D50EFA4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98235"/>
            <a:ext cx="8829675" cy="912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1951"/>
              </a:lnSpc>
              <a:buNone/>
            </a:pPr>
            <a:r>
              <a:rPr sz="2550">
                <a:solidFill>
                  <a:srgbClr val="D6D6D6"/>
                </a:solidFill>
                <a:latin typeface="Golos Text"/>
                <a:ea typeface="Golos Text"/>
                <a:cs typeface="Golos Text"/>
              </a:rPr>
              <a:t>Для пилота агент должен получать отчёты из самого сервиса банка.</a:t>
            </a:r>
            <a:endParaRPr sz="2550"/>
          </a:p>
        </p:txBody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eb0a86d764b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0" y="2550691"/>
            <a:ext cx="6096000" cy="52236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501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2026-09-07T10:40:38.4850000Z</dcterms:created>
  <dcterms:modified xsi:type="dcterms:W3CDTF">2026-09-07T10:40:38.4850000Z</dcterms:modified>
</coreProperties>
</file>