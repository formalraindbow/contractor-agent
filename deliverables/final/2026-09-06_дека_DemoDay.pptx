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Мы сделали агента для предпринимателя, который проверяет контрагента перед сделкой по отчёту банка. Он решает проблему «метка сверху отвечает не на мой вопрос» тем, что показывает факты из отчёта с основанием под каждым числом.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Пользователь смотрит только на светофор. Мы взяли 158 компаний с зелёной меткой — у 30 внутри отчёта лежат блокировки счетов, массовый адрес, недостоверные данные, у трёх банкротство.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Эталон: 219 вопросов, 77 карточек, судья другого семейства. Четвёртая версия теряла критичные факты втрое чаще третьей — 30 % против 8 %. В пятой вернули 22 % и держим защиту от посторонних инструкций на 100 %.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Финальная фраза: агент включается там, где клиент вводит реквизиты незнакомой компании, и показывает факты с основанием. Просьба к кейсодателю: дайте свежую выгрузку, сценарии приёмки и доступ к логам — за две-четыре недели соберём пилот внутри отчёта.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3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3285530"/>
            <a:ext cx="5592128" cy="942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396"/>
              </a:lnSpc>
              <a:buNone/>
            </a:pPr>
            <a:r>
              <a:rPr lang="en-US" sz="2850" spc="-29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Проверка контрагента по отчёту банка перед сделкой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952500" y="4609505"/>
            <a:ext cx="12573000" cy="166799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76564"/>
              </a:lnSpc>
              <a:buNone/>
            </a:pPr>
            <a:r>
              <a:rPr lang="en-US" sz="13950" b="1" spc="-488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Контрагент</a:t>
            </a:r>
            <a:endParaRPr lang="en-US" sz="13950" dirty="0"/>
          </a:p>
        </p:txBody>
      </p:sp>
      <p:sp>
        <p:nvSpPr>
          <p:cNvPr id="4" name="Text 2"/>
          <p:cNvSpPr/>
          <p:nvPr/>
        </p:nvSpPr>
        <p:spPr>
          <a:xfrm>
            <a:off x="952500" y="6658496"/>
            <a:ext cx="125730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FFFFFF">
                    <a:alpha val="85000"/>
                  </a:srgbClr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Demo Day · защита прототипа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54000" y="2363912"/>
            <a:ext cx="4953000" cy="555917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0200" y="609600"/>
            <a:ext cx="495300" cy="7579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952500"/>
            <a:ext cx="1751838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42" kern="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Проблема и ценность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952500" y="4104456"/>
            <a:ext cx="85915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0" b="1" spc="-337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30 из 158</a:t>
            </a:r>
            <a:endParaRPr lang="en-US" sz="11250" dirty="0"/>
          </a:p>
        </p:txBody>
      </p:sp>
      <p:sp>
        <p:nvSpPr>
          <p:cNvPr id="5" name="Text 2"/>
          <p:cNvSpPr/>
          <p:nvPr/>
        </p:nvSpPr>
        <p:spPr>
          <a:xfrm>
            <a:off x="952500" y="5580831"/>
            <a:ext cx="8044815" cy="11953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компаний с зелёной меткой: блокировка счетов, массовый адрес, недостоверные данные. У трёх банкротство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9525000" y="4104456"/>
            <a:ext cx="859155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000"/>
              </a:lnSpc>
              <a:buNone/>
            </a:pPr>
            <a:r>
              <a:rPr lang="en-US" sz="11250" b="1" spc="-337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30 раз</a:t>
            </a:r>
            <a:endParaRPr lang="en-US" sz="11250" dirty="0"/>
          </a:p>
        </p:txBody>
      </p:sp>
      <p:sp>
        <p:nvSpPr>
          <p:cNvPr id="7" name="Text 4"/>
          <p:cNvSpPr/>
          <p:nvPr/>
        </p:nvSpPr>
        <p:spPr>
          <a:xfrm>
            <a:off x="9525000" y="5580831"/>
            <a:ext cx="8044815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меньше текста: 62 000 знаков отчёта против 2 000 на первом экране агента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952500" y="7423919"/>
            <a:ext cx="16383000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7862069"/>
            <a:ext cx="8591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ПРОБЛЕМА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952500" y="8290694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 отчёте девять разделов, и пользователь смотрит только на светофор. Важный факт лежит ниже, а отсутствие данных читается как отсутствие риска.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9525000" y="7862069"/>
            <a:ext cx="8591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6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ЦЕННОСТЬ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9525000" y="8290694"/>
            <a:ext cx="8044815" cy="12724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208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Контрагент отвечает на вопрос, с которым пришли: подтверждённые факты с основанием в отчёте, пробелы в данных и что запросить у контрагента.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40200" y="609600"/>
            <a:ext cx="495300" cy="75790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500" y="952500"/>
            <a:ext cx="1751838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142" kern="0" dirty="0">
                <a:solidFill>
                  <a:srgbClr val="000000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Результаты замера</a:t>
            </a:r>
            <a:endParaRPr lang="en-US" sz="5700" dirty="0"/>
          </a:p>
        </p:txBody>
      </p:sp>
      <p:sp>
        <p:nvSpPr>
          <p:cNvPr id="4" name="Text 1"/>
          <p:cNvSpPr/>
          <p:nvPr/>
        </p:nvSpPr>
        <p:spPr>
          <a:xfrm>
            <a:off x="952500" y="1903065"/>
            <a:ext cx="180213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219 вопросов, 77 карточек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6425460" y="2779365"/>
            <a:ext cx="370869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Версия 3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10026133" y="2779365"/>
            <a:ext cx="370869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Версия 4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3626809" y="2779365"/>
            <a:ext cx="3708617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buNone/>
            </a:pPr>
            <a:r>
              <a:rPr lang="en-US" sz="2100" b="1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Версия 5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952500" y="3269903"/>
            <a:ext cx="5580980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9" name="Text 6"/>
          <p:cNvSpPr/>
          <p:nvPr/>
        </p:nvSpPr>
        <p:spPr>
          <a:xfrm>
            <a:off x="952500" y="3536603"/>
            <a:ext cx="53674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Полностью подтверждённые ответы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6533480" y="3269903"/>
            <a:ext cx="3600673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1" name="Text 8"/>
          <p:cNvSpPr/>
          <p:nvPr/>
        </p:nvSpPr>
        <p:spPr>
          <a:xfrm>
            <a:off x="6425460" y="3536603"/>
            <a:ext cx="370869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59 %</a:t>
            </a:r>
            <a:endParaRPr lang="en-US" sz="4800" dirty="0"/>
          </a:p>
        </p:txBody>
      </p:sp>
      <p:sp>
        <p:nvSpPr>
          <p:cNvPr id="12" name="Shape 9"/>
          <p:cNvSpPr/>
          <p:nvPr/>
        </p:nvSpPr>
        <p:spPr>
          <a:xfrm>
            <a:off x="10134154" y="3269903"/>
            <a:ext cx="3600673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3" name="Text 10"/>
          <p:cNvSpPr/>
          <p:nvPr/>
        </p:nvSpPr>
        <p:spPr>
          <a:xfrm>
            <a:off x="10026133" y="3536603"/>
            <a:ext cx="370869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45 %</a:t>
            </a:r>
            <a:endParaRPr lang="en-US" sz="4800" dirty="0"/>
          </a:p>
        </p:txBody>
      </p:sp>
      <p:sp>
        <p:nvSpPr>
          <p:cNvPr id="14" name="Shape 11"/>
          <p:cNvSpPr/>
          <p:nvPr/>
        </p:nvSpPr>
        <p:spPr>
          <a:xfrm>
            <a:off x="13734827" y="3269903"/>
            <a:ext cx="3600599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5" name="Text 12"/>
          <p:cNvSpPr/>
          <p:nvPr/>
        </p:nvSpPr>
        <p:spPr>
          <a:xfrm>
            <a:off x="13626809" y="3536603"/>
            <a:ext cx="370861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51 %</a:t>
            </a:r>
            <a:endParaRPr lang="en-US" sz="4800" dirty="0"/>
          </a:p>
        </p:txBody>
      </p:sp>
      <p:sp>
        <p:nvSpPr>
          <p:cNvPr id="16" name="Shape 13"/>
          <p:cNvSpPr/>
          <p:nvPr/>
        </p:nvSpPr>
        <p:spPr>
          <a:xfrm>
            <a:off x="952500" y="4393853"/>
            <a:ext cx="5580980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7" name="Text 14"/>
          <p:cNvSpPr/>
          <p:nvPr/>
        </p:nvSpPr>
        <p:spPr>
          <a:xfrm>
            <a:off x="952500" y="4660553"/>
            <a:ext cx="53674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Корректные отказы</a:t>
            </a:r>
            <a:endParaRPr lang="en-US" sz="2250" dirty="0"/>
          </a:p>
        </p:txBody>
      </p:sp>
      <p:sp>
        <p:nvSpPr>
          <p:cNvPr id="18" name="Shape 15"/>
          <p:cNvSpPr/>
          <p:nvPr/>
        </p:nvSpPr>
        <p:spPr>
          <a:xfrm>
            <a:off x="6533480" y="4393853"/>
            <a:ext cx="3600673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19" name="Text 16"/>
          <p:cNvSpPr/>
          <p:nvPr/>
        </p:nvSpPr>
        <p:spPr>
          <a:xfrm>
            <a:off x="6425460" y="4660553"/>
            <a:ext cx="370869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93 %</a:t>
            </a:r>
            <a:endParaRPr lang="en-US" sz="4800" dirty="0"/>
          </a:p>
        </p:txBody>
      </p:sp>
      <p:sp>
        <p:nvSpPr>
          <p:cNvPr id="20" name="Shape 17"/>
          <p:cNvSpPr/>
          <p:nvPr/>
        </p:nvSpPr>
        <p:spPr>
          <a:xfrm>
            <a:off x="10134154" y="4393853"/>
            <a:ext cx="3600673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1" name="Text 18"/>
          <p:cNvSpPr/>
          <p:nvPr/>
        </p:nvSpPr>
        <p:spPr>
          <a:xfrm>
            <a:off x="10026133" y="4660553"/>
            <a:ext cx="370869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93 %</a:t>
            </a:r>
            <a:endParaRPr lang="en-US" sz="4800" dirty="0"/>
          </a:p>
        </p:txBody>
      </p:sp>
      <p:sp>
        <p:nvSpPr>
          <p:cNvPr id="22" name="Shape 19"/>
          <p:cNvSpPr/>
          <p:nvPr/>
        </p:nvSpPr>
        <p:spPr>
          <a:xfrm>
            <a:off x="13734827" y="4393853"/>
            <a:ext cx="3600599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3" name="Text 20"/>
          <p:cNvSpPr/>
          <p:nvPr/>
        </p:nvSpPr>
        <p:spPr>
          <a:xfrm>
            <a:off x="13626809" y="4660553"/>
            <a:ext cx="370861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97 %</a:t>
            </a:r>
            <a:endParaRPr lang="en-US" sz="4800" dirty="0"/>
          </a:p>
        </p:txBody>
      </p:sp>
      <p:sp>
        <p:nvSpPr>
          <p:cNvPr id="24" name="Shape 21"/>
          <p:cNvSpPr/>
          <p:nvPr/>
        </p:nvSpPr>
        <p:spPr>
          <a:xfrm>
            <a:off x="952500" y="5517803"/>
            <a:ext cx="5580980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5" name="Text 22"/>
          <p:cNvSpPr/>
          <p:nvPr/>
        </p:nvSpPr>
        <p:spPr>
          <a:xfrm>
            <a:off x="952500" y="5784503"/>
            <a:ext cx="536741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Карточки с пропущенным критичным фактом</a:t>
            </a:r>
            <a:endParaRPr lang="en-US" sz="2250" dirty="0"/>
          </a:p>
        </p:txBody>
      </p:sp>
      <p:sp>
        <p:nvSpPr>
          <p:cNvPr id="26" name="Shape 23"/>
          <p:cNvSpPr/>
          <p:nvPr/>
        </p:nvSpPr>
        <p:spPr>
          <a:xfrm>
            <a:off x="6533480" y="5517803"/>
            <a:ext cx="3600673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7" name="Text 24"/>
          <p:cNvSpPr/>
          <p:nvPr/>
        </p:nvSpPr>
        <p:spPr>
          <a:xfrm>
            <a:off x="6425460" y="5784503"/>
            <a:ext cx="370869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8 %</a:t>
            </a:r>
            <a:endParaRPr lang="en-US" sz="4800" dirty="0"/>
          </a:p>
        </p:txBody>
      </p:sp>
      <p:sp>
        <p:nvSpPr>
          <p:cNvPr id="28" name="Shape 25"/>
          <p:cNvSpPr/>
          <p:nvPr/>
        </p:nvSpPr>
        <p:spPr>
          <a:xfrm>
            <a:off x="10134154" y="5517803"/>
            <a:ext cx="3600673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29" name="Text 26"/>
          <p:cNvSpPr/>
          <p:nvPr/>
        </p:nvSpPr>
        <p:spPr>
          <a:xfrm>
            <a:off x="10026133" y="5784503"/>
            <a:ext cx="3708693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30 %</a:t>
            </a:r>
            <a:endParaRPr lang="en-US" sz="4800" dirty="0"/>
          </a:p>
        </p:txBody>
      </p:sp>
      <p:sp>
        <p:nvSpPr>
          <p:cNvPr id="30" name="Shape 27"/>
          <p:cNvSpPr/>
          <p:nvPr/>
        </p:nvSpPr>
        <p:spPr>
          <a:xfrm>
            <a:off x="13734827" y="5517803"/>
            <a:ext cx="3600599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31" name="Text 28"/>
          <p:cNvSpPr/>
          <p:nvPr/>
        </p:nvSpPr>
        <p:spPr>
          <a:xfrm>
            <a:off x="13626809" y="5784503"/>
            <a:ext cx="370861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22 %</a:t>
            </a:r>
            <a:endParaRPr lang="en-US" sz="4800" dirty="0"/>
          </a:p>
        </p:txBody>
      </p:sp>
      <p:sp>
        <p:nvSpPr>
          <p:cNvPr id="32" name="Shape 29"/>
          <p:cNvSpPr/>
          <p:nvPr/>
        </p:nvSpPr>
        <p:spPr>
          <a:xfrm>
            <a:off x="952500" y="6717953"/>
            <a:ext cx="5580980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33" name="Text 30"/>
          <p:cNvSpPr/>
          <p:nvPr/>
        </p:nvSpPr>
        <p:spPr>
          <a:xfrm>
            <a:off x="952500" y="6984653"/>
            <a:ext cx="536741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dirty="0">
                <a:solidFill>
                  <a:srgbClr val="333333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Защита от посторонних инструкций</a:t>
            </a:r>
            <a:endParaRPr lang="en-US" sz="2250" dirty="0"/>
          </a:p>
        </p:txBody>
      </p:sp>
      <p:sp>
        <p:nvSpPr>
          <p:cNvPr id="34" name="Shape 31"/>
          <p:cNvSpPr/>
          <p:nvPr/>
        </p:nvSpPr>
        <p:spPr>
          <a:xfrm>
            <a:off x="6533480" y="6717953"/>
            <a:ext cx="3600673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35" name="Text 32"/>
          <p:cNvSpPr/>
          <p:nvPr/>
        </p:nvSpPr>
        <p:spPr>
          <a:xfrm>
            <a:off x="6425460" y="6984653"/>
            <a:ext cx="370869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78 %</a:t>
            </a:r>
            <a:endParaRPr lang="en-US" sz="4800" dirty="0"/>
          </a:p>
        </p:txBody>
      </p:sp>
      <p:sp>
        <p:nvSpPr>
          <p:cNvPr id="36" name="Shape 33"/>
          <p:cNvSpPr/>
          <p:nvPr/>
        </p:nvSpPr>
        <p:spPr>
          <a:xfrm>
            <a:off x="10134154" y="6717953"/>
            <a:ext cx="3600673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37" name="Text 34"/>
          <p:cNvSpPr/>
          <p:nvPr/>
        </p:nvSpPr>
        <p:spPr>
          <a:xfrm>
            <a:off x="10026133" y="6984653"/>
            <a:ext cx="3708693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76767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100 %</a:t>
            </a:r>
            <a:endParaRPr lang="en-US" sz="4800" dirty="0"/>
          </a:p>
        </p:txBody>
      </p:sp>
      <p:sp>
        <p:nvSpPr>
          <p:cNvPr id="38" name="Shape 35"/>
          <p:cNvSpPr/>
          <p:nvPr/>
        </p:nvSpPr>
        <p:spPr>
          <a:xfrm>
            <a:off x="13734827" y="6717953"/>
            <a:ext cx="3600599" cy="19050"/>
          </a:xfrm>
          <a:prstGeom prst="rect">
            <a:avLst/>
          </a:prstGeom>
          <a:solidFill>
            <a:srgbClr val="E3E3E3"/>
          </a:solidFill>
          <a:ln/>
        </p:spPr>
      </p:sp>
      <p:sp>
        <p:nvSpPr>
          <p:cNvPr id="39" name="Text 36"/>
          <p:cNvSpPr/>
          <p:nvPr/>
        </p:nvSpPr>
        <p:spPr>
          <a:xfrm>
            <a:off x="13626809" y="6984653"/>
            <a:ext cx="3708617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b">
            <a:normAutofit/>
          </a:bodyPr>
          <a:lstStyle/>
          <a:p>
            <a:pPr algn="r" indent="0" marL="0">
              <a:lnSpc>
                <a:spcPct val="83660"/>
              </a:lnSpc>
              <a:buNone/>
            </a:pPr>
            <a:r>
              <a:rPr lang="en-US" sz="4800" b="1" spc="-96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100 %</a:t>
            </a:r>
            <a:endParaRPr lang="en-US" sz="4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5420395"/>
            <a:ext cx="1131570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168" kern="0" dirty="0">
                <a:solidFill>
                  <a:srgbClr val="EF3124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ПИЛОТ ВНУТРИ ОТЧЁТА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952500" y="6120482"/>
            <a:ext cx="11315700" cy="9318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309"/>
              </a:lnSpc>
              <a:buNone/>
            </a:pPr>
            <a:r>
              <a:rPr lang="en-US" sz="6900" b="1" spc="-207" kern="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Что дальше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52500" y="7395270"/>
            <a:ext cx="8829675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FFFFFF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Встроить агента в страницу проверки контрагента и проверить на реальных клиентах.</a:t>
            </a:r>
            <a:endParaRPr lang="en-US" sz="2550" dirty="0"/>
          </a:p>
        </p:txBody>
      </p:sp>
      <p:sp>
        <p:nvSpPr>
          <p:cNvPr id="5" name="Text 3"/>
          <p:cNvSpPr/>
          <p:nvPr/>
        </p:nvSpPr>
        <p:spPr>
          <a:xfrm>
            <a:off x="952500" y="8498235"/>
            <a:ext cx="8829675" cy="9124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951"/>
              </a:lnSpc>
              <a:buNone/>
            </a:pPr>
            <a:r>
              <a:rPr lang="en-US" sz="2550" dirty="0">
                <a:solidFill>
                  <a:srgbClr val="D6D6D6"/>
                </a:solidFill>
                <a:latin typeface="Golos Text" pitchFamily="34" charset="0"/>
                <a:ea typeface="Golos Text" pitchFamily="34" charset="-122"/>
                <a:cs typeface="Golos Text" pitchFamily="34" charset="-120"/>
              </a:rPr>
              <a:t>Для пилота агент должен получать отчёты из самого сервиса банка.</a:t>
            </a:r>
            <a:endParaRPr lang="en-US" sz="2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00" y="2550691"/>
            <a:ext cx="6096000" cy="52236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2026-09-06T20:18:17Z</dcterms:created>
  <dcterms:modified xsi:type="dcterms:W3CDTF">2026-09-06T20:18:17Z</dcterms:modified>
</cp:coreProperties>
</file>