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7474eed1f40a9" /><Relationship Type="http://schemas.openxmlformats.org/officeDocument/2006/relationships/extended-properties" Target="/docProps/app.xml" Id="Rbaf1dc6f202f49e3" /><Relationship Type="http://schemas.openxmlformats.org/officeDocument/2006/relationships/officeDocument" Target="/ppt/presentation.xml" Id="Rf812a7f3543b42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5f30ceb444a47"/>
  </p:sldMasterIdLst>
  <p:notesMasterIdLst>
    <p:notesMasterId xmlns:r="http://schemas.openxmlformats.org/officeDocument/2006/relationships" r:id="R8f266c17519c4679"/>
  </p:notesMasterIdLst>
  <p:sldIdLst>
    <p:sldId xmlns:r="http://schemas.openxmlformats.org/officeDocument/2006/relationships" id="256" r:id="R8f5439ef7b394235"/>
    <p:sldId xmlns:r="http://schemas.openxmlformats.org/officeDocument/2006/relationships" id="257" r:id="Re8dab4178dd0482b"/>
    <p:sldId xmlns:r="http://schemas.openxmlformats.org/officeDocument/2006/relationships" id="258" r:id="R9a6e247ddfae43b3"/>
    <p:sldId xmlns:r="http://schemas.openxmlformats.org/officeDocument/2006/relationships" id="259" r:id="Reeabe87ac2cc4ca0"/>
    <p:sldId xmlns:r="http://schemas.openxmlformats.org/officeDocument/2006/relationships" id="260" r:id="R12e66050d0ac460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c6ca8ff72c4e08" /><Relationship Type="http://schemas.openxmlformats.org/officeDocument/2006/relationships/slideMaster" Target="/ppt/slideMasters/slideMaster1.xml" Id="Raaf5f30ceb444a47" /><Relationship Type="http://schemas.openxmlformats.org/officeDocument/2006/relationships/notesMaster" Target="/ppt/notesMasters/notesMaster1.xml" Id="R8f266c17519c4679" /><Relationship Type="http://schemas.openxmlformats.org/officeDocument/2006/relationships/presProps" Target="/ppt/presProps.xml" Id="R656e23a945014802" /><Relationship Type="http://schemas.openxmlformats.org/officeDocument/2006/relationships/viewProps" Target="/ppt/viewProps.xml" Id="R3c1ed21c6c32452b" /><Relationship Type="http://schemas.openxmlformats.org/officeDocument/2006/relationships/tableStyles" Target="/ppt/tableStyles.xml" Id="R8eb18a93de344199" /><Relationship Type="http://schemas.openxmlformats.org/officeDocument/2006/relationships/slide" Target="/ppt/slides/slide1.xml" Id="R8f5439ef7b394235" /><Relationship Type="http://schemas.openxmlformats.org/officeDocument/2006/relationships/slide" Target="/ppt/slides/slide2.xml" Id="Re8dab4178dd0482b" /><Relationship Type="http://schemas.openxmlformats.org/officeDocument/2006/relationships/slide" Target="/ppt/slides/slide3.xml" Id="R9a6e247ddfae43b3" /><Relationship Type="http://schemas.openxmlformats.org/officeDocument/2006/relationships/slide" Target="/ppt/slides/slide4.xml" Id="Reeabe87ac2cc4ca0" /><Relationship Type="http://schemas.openxmlformats.org/officeDocument/2006/relationships/slide" Target="/ppt/slides/slide5.xml" Id="R12e66050d0ac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70a85d1a3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4f60b22ea4afb" /><Relationship Type="http://schemas.openxmlformats.org/officeDocument/2006/relationships/notesMaster" Target="/ppt/notesMasters/notesMaster1.xml" Id="Rf585dcb375ad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25958af7de4e3a" /><Relationship Type="http://schemas.openxmlformats.org/officeDocument/2006/relationships/notesMaster" Target="/ppt/notesMasters/notesMaster1.xml" Id="R036effd9d08d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ff9498894482c" /><Relationship Type="http://schemas.openxmlformats.org/officeDocument/2006/relationships/notesMaster" Target="/ppt/notesMasters/notesMaster1.xml" Id="R3f2ad469b98244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2a69ed46f644fc" /><Relationship Type="http://schemas.openxmlformats.org/officeDocument/2006/relationships/notesMaster" Target="/ppt/notesMasters/notesMaster1.xml" Id="R8974c498c7ec45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0be20273d54136" /><Relationship Type="http://schemas.openxmlformats.org/officeDocument/2006/relationships/notesMaster" Target="/ppt/notesMasters/notesMaster1.xml" Id="R73b1c76efa8e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сделали агента для предпринимателя, который проверяет контрагента перед сделкой по отчёту банка. Он решает проблему «метка сверху отвечает не на мой вопрос» тем, что показывает факты из отчёта с основанием под каждым числом.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смотрит только на светофор. Мы взяли 158 компаний с зелёной меткой — у 30 внутри отчёта лежат блокировки счетов, массовый адрес, недостоверные данные, у трёх банкротство.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docs/evaluation-v8/DEADLINE_1330_REPORT.md, deadline-1330-results.json, deadline-1330-targeted-fixes.json. Замер 07.09.2026. Контрольная сборка cadaa8a: 24 сценария, 23 оценки, trajectory match 92.8696/100, 20 из 24 достигли 85, галлюцинации 0/23, 1 тайм-аут судьи, медиана ответа 4.969 секунды. Финальная сборка b899b40: отдельные повторы СПЛ 87/100 и ГДК 90/100, галлюцинации 0/2. Все 26 диалогов прочитаны вручную. Рубрика evaluators hard/high, GLM 5.3 Flash. Доля галлюцинаций: сценарии с hallucination score &lt;1 среди оценённых сценариев, а не доля ошибочных утверждений. Среднее excludes missing grade. Два точечных повтора не заменяют повтор всего корпуса после исправлений. 123/219 результатов большого прогона старой сборки сохранены, 96 отложены. Старые v3–v7 оценивались другой рубрикой Qwen; напрямую эти оценки не сравниваем с trajectory match.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трое. Алан — вся техническая реализация и фреймворк проверки. Владимир Линьков — продуктовая часть и критерии оценки. Владимир Тимошенко — бизнес-требования кейса и материалы сдачи.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Финальная фраза: агент включается там, где клиент вводит реквизиты незнакомой компании, и показывает факты с основанием. Просьба к кейсодателю: дайте свежую выгрузку, сценарии приёмки и доступ к логам — за две-четыре недели соберём пилот внутри отчёта.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bd21937f94ca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6015e682a441b" /><Relationship Type="http://schemas.openxmlformats.org/officeDocument/2006/relationships/slideLayout" Target="/ppt/slideLayouts/slideLayout1.xml" Id="R0b2e9f5216c8426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e9f5216c8426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32bf8ddc41fa" /><Relationship Type="http://schemas.openxmlformats.org/officeDocument/2006/relationships/image" Target="/ppt/media/image.png" Id="Re06f94c0e48148e7" /><Relationship Type="http://schemas.openxmlformats.org/officeDocument/2006/relationships/notesSlide" Target="/ppt/notesSlides/notesSlide1.xml" Id="R892d30d1372c41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df6963f2d4bb6" /><Relationship Type="http://schemas.openxmlformats.org/officeDocument/2006/relationships/image" Target="/ppt/media/image2.png" Id="R4498a58ea44b43eb" /><Relationship Type="http://schemas.openxmlformats.org/officeDocument/2006/relationships/notesSlide" Target="/ppt/notesSlides/notesSlide2.xml" Id="R2a475b5ad14d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f46532bd642cf" /><Relationship Type="http://schemas.openxmlformats.org/officeDocument/2006/relationships/image" Target="/ppt/media/image3.png" Id="Raca93be169c94cd1" /><Relationship Type="http://schemas.openxmlformats.org/officeDocument/2006/relationships/notesSlide" Target="/ppt/notesSlides/notesSlide3.xml" Id="Rd7dda36c4d72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32687916744e1" /><Relationship Type="http://schemas.openxmlformats.org/officeDocument/2006/relationships/image" Target="/ppt/media/image4.png" Id="Rdae8472f35344b7c" /><Relationship Type="http://schemas.openxmlformats.org/officeDocument/2006/relationships/notesSlide" Target="/ppt/notesSlides/notesSlide4.xml" Id="R7fe3013b1a0141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99c61ced412c" /><Relationship Type="http://schemas.openxmlformats.org/officeDocument/2006/relationships/image" Target="/ppt/media/image5.png" Id="R33868aa1acd44ff5" /><Relationship Type="http://schemas.openxmlformats.org/officeDocument/2006/relationships/notesSlide" Target="/ppt/notesSlides/notesSlide5.xml" Id="Rb948d0e2915640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1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CFB766-A1A8-4971-9BF6-89FCECE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5530"/>
            <a:ext cx="5592128" cy="942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396"/>
              </a:lnSpc>
              <a:buNone/>
            </a:pPr>
            <a:r>
              <a:rPr sz="2850" spc="-29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Проверка контрагента по отчёту банка перед сделкой</a:t>
            </a:r>
            <a:endParaRPr sz="2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AA6F37-BCC7-46D8-B1E3-3ABDC844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9505"/>
            <a:ext cx="12573000" cy="16679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6564"/>
              </a:lnSpc>
              <a:buNone/>
            </a:pPr>
            <a:r>
              <a:rPr sz="13950" b="1" spc="-488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Контрагент</a:t>
            </a:r>
            <a:endParaRPr sz="139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BAEBD5-C0DF-4995-A441-7226055C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58496"/>
            <a:ext cx="1257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>
                <a:solidFill>
                  <a:srgbClr val="FFFFFF">
                    <a:alpha val="85000"/>
                  </a:srgbClr>
                </a:solidFill>
                <a:latin typeface="Golos Text"/>
                <a:ea typeface="Golos Text"/>
                <a:cs typeface="Golos Text"/>
              </a:rPr>
              <a:t>Demo Day · защита прототипа</a:t>
            </a:r>
            <a:endParaRPr sz="2250"/>
          </a:p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f94c0e48148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0" y="2363912"/>
            <a:ext cx="4953000" cy="55591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74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8a58ea44b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40200" y="609600"/>
            <a:ext cx="495300" cy="75790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A00B9EA-92E5-470B-ACE3-BB38FA4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7518380" cy="798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692"/>
              </a:lnSpc>
              <a:buNone/>
            </a:pPr>
            <a:r>
              <a:rPr sz="5700" b="1" spc="-142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Проблема и ценность</a:t>
            </a:r>
            <a:endParaRPr sz="5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14BF195-6839-415B-80FE-2E1587A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4456"/>
            <a:ext cx="8591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1250" b="1" spc="-337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30 из 158</a:t>
            </a:r>
            <a:endParaRPr sz="112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AC7629D-8EE0-4AEF-B760-DC33050C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0831"/>
            <a:ext cx="8044815" cy="1195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5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компаний с зелёной меткой: блокировка счетов, массовый адрес, недостоверные данные. У трёх банкротство</a:t>
            </a:r>
            <a:endParaRPr sz="22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D5C94A2-C548-4B04-B3E3-EAB3DCC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4456"/>
            <a:ext cx="8591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5000"/>
              </a:lnSpc>
              <a:buNone/>
            </a:pPr>
            <a:r>
              <a:rPr sz="11250" b="1" spc="-337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в 30 раз</a:t>
            </a:r>
            <a:endParaRPr sz="1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7333323-E7DF-4401-B3BD-D7624BC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80831"/>
            <a:ext cx="804481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5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меньше текста: 62 000 знаков отчёта против 2 000 на первом экране агента</a:t>
            </a:r>
            <a:endParaRPr sz="22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D93A5B7-AF35-4083-AED5-1E5804D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23919"/>
            <a:ext cx="1638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C9B028D-048A-4931-8E2D-0068F27C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62069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ПРОБЛЕМА</a:t>
            </a:r>
            <a:endParaRPr sz="19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285DC20-FE1E-4DF7-8C5F-231A09F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90694"/>
            <a:ext cx="8044815" cy="12724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208"/>
              </a:lnSpc>
              <a:buNone/>
            </a:pPr>
            <a:r>
              <a:rPr sz="2400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В отчёте девять разделов, и пользователь смотрит только на светофор. Важный факт лежит ниже, а отсутствие данных читается как отсутствие риска.</a:t>
            </a:r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3392B07-8E4B-41E0-86E6-DF82EC4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862069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ЦЕННОСТЬ</a:t>
            </a:r>
            <a:endParaRPr sz="19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406F5ED-8BF2-43E3-902C-153B5AB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290694"/>
            <a:ext cx="8044815" cy="12724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208"/>
              </a:lnSpc>
              <a:buNone/>
            </a:pPr>
            <a:r>
              <a:rPr sz="2400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Контрагент отвечает на вопрос, с которым пришли: подтверждённые факты с основанием в отчёте, пробелы в данных и что запросить у контрагента.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40807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93be169c9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40200" y="609600"/>
            <a:ext cx="495300" cy="75790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1401C5A-E13A-431C-8AB7-DA7E963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543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9836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692"/>
              </a:lnSpc>
              <a:buNone/>
            </a:pPr>
            <a:r>
              <a:rPr sz="5700" b="1" spc="-142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Результаты тестирования</a:t>
            </a:r>
            <a:endParaRPr sz="57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B30FAFF-2E5F-4C9E-B659-EF3A5C2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638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GPT-OSS-20B, судья GLM 5.3 Flash, режим hard</a:t>
            </a:r>
            <a:endParaRPr sz="22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D33A87A-3615-4500-9057-D838BCC0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2779365"/>
            <a:ext cx="3708693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5734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v8: контроль</a:t>
            </a:r>
            <a:endParaRPr sz="2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AE0F00A-81C8-49EC-8FD8-2FF37E50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2779365"/>
            <a:ext cx="3708693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5734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СПЛ: повтор</a:t>
            </a:r>
            <a:endParaRPr sz="2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009D86A-8F9D-42C6-AEF6-B09E3D78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2779365"/>
            <a:ext cx="3708617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5734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100" b="1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ГДК: повтор</a:t>
            </a:r>
            <a:endParaRPr sz="21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8FE4349-8233-4EE8-AD2A-FFCABD66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6990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7731E9-FC99-4A48-932C-BE533F8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6603"/>
            <a:ext cx="536741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Trajectory match (0–100)</a:t>
            </a:r>
            <a:endParaRPr sz="22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275F8FC-E4CE-4FF5-9974-5328C7D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32699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89B01ED-61F0-4A50-A85F-70A348B8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353660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92,9</a:t>
            </a:r>
            <a:endParaRPr sz="48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95D4F0-EA3C-4020-938D-1996C00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32699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6A15F9B-22EA-4E78-B790-9EAF462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353660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87</a:t>
            </a:r>
            <a:endParaRPr sz="4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FA1FF57-E8C0-4325-BF3F-DD1DDEF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326990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47B4116-8AD6-43A5-BF2B-6DBB5545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3536603"/>
            <a:ext cx="3708617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90</a:t>
            </a:r>
            <a:endParaRPr sz="48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DDD88B6-6191-4EFE-9B07-237C43E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385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893F24E-2730-48D4-B781-F965F46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0553"/>
            <a:ext cx="536741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Сценарии с галлюцинациями</a:t>
            </a:r>
            <a:endParaRPr sz="22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C872B50-5786-41BA-8DC3-06A17873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43938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303F1C2-EC4B-4C00-BA7E-B0A2D4C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46605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0 %</a:t>
            </a:r>
            <a:endParaRPr sz="48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22D094C-68D5-4C78-B43A-740C8F88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43938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CF84FA9-A95C-41CE-A718-0725756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46605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0 %</a:t>
            </a:r>
            <a:endParaRPr sz="48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55516F6-1249-47EA-BCB7-8B0B0E0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439385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E60FB69-EA51-4EC4-A886-8BB45B4D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4660553"/>
            <a:ext cx="3708617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0 %</a:t>
            </a:r>
            <a:endParaRPr sz="48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0C31CF0-DA51-4DAE-8589-0A60F062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1780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716823A-8951-41C7-9AA0-6CB39758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84503"/>
            <a:ext cx="536741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Оценено диалогов</a:t>
            </a:r>
            <a:endParaRPr sz="22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607D0E0-DC68-4B35-84D7-36E4FF7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55178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554BABB-DE2E-4E34-BA7C-C96CB17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5784503"/>
            <a:ext cx="3708693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23 / 24</a:t>
            </a:r>
            <a:endParaRPr sz="48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B93AD55-BED5-4597-B080-B0A19921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551780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5E2740F-82A9-48D7-B187-597A579C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5784503"/>
            <a:ext cx="3708693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14B2BD88-1CFD-4D16-ABCE-204078E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551780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957AB5F-C87C-4F7A-B098-45631BB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5784503"/>
            <a:ext cx="3708617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9C46534-4E3E-4BA6-96EE-2B1B0D1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17953"/>
            <a:ext cx="5580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8988446-83C3-4AA4-9E2B-D5263832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84653"/>
            <a:ext cx="536741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Достигли целевого score ≥ 85</a:t>
            </a:r>
            <a:endParaRPr sz="22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40AD27A-9627-4550-BEFE-152D4F0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80" y="67179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70B88294-96DA-4781-97F9-91E0BDA0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460" y="69846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20 / 24</a:t>
            </a:r>
            <a:endParaRPr sz="48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932F921A-1239-4CFA-982F-3C11BA6B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154" y="6717953"/>
            <a:ext cx="36006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AA824E1-53EF-40C4-A743-4812E588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133" y="6984653"/>
            <a:ext cx="3708693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6E9AFF3-C0D0-4CF9-993F-979A0587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4827" y="6717953"/>
            <a:ext cx="36005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3E3"/>
          </a:solidFill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05401537-36D4-423A-BAF8-820ECC2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809" y="6984653"/>
            <a:ext cx="3708617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b">
            <a:normAutofit fontScale="97534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83660"/>
              </a:lnSpc>
              <a:buNone/>
            </a:pPr>
            <a:r>
              <a:rPr sz="4800" b="1" spc="-9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1 / 1</a:t>
            </a:r>
            <a:endParaRPr sz="4800"/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99C5EE-D57A-4E66-BA11-F10060C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286750"/>
            <a:ext cx="1638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Контроль: 1 тайм-аут судьи. 0% галлюцинаций относится к 23 оценённым диалогам.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0BE49D-819F-4D4C-ACB2-F1CA3A47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1638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767676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Два повтора проверяют исправления. Полный регресс не завершён: 96 сценариев отложены.</a:t>
            </a:r>
          </a:p>
        </p:txBody>
      </p:sp>
    </p:spTree>
    <p:extLst>
      <p:ext uri="{BB962C8B-B14F-4D97-AF65-F5344CB8AC3E}">
        <p14:creationId xmlns:p14="http://schemas.microsoft.com/office/powerpoint/2010/main" val="491129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8472f35344b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40200" y="609600"/>
            <a:ext cx="495300" cy="75790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4C72C6-587C-4C73-99F0-FFABE39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8021300" cy="798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692"/>
              </a:lnSpc>
              <a:buNone/>
            </a:pPr>
            <a:r>
              <a:rPr sz="5700" b="1" spc="-142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Команда</a:t>
            </a:r>
            <a:endParaRPr sz="5700"/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4B4FAFD-28AD-43B7-A326-0B30194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8365"/>
            <a:ext cx="500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5924434-658E-47F5-8D11-9958FE5E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8415"/>
            <a:ext cx="550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01</a:t>
            </a:r>
            <a:endParaRPr sz="1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DFF3379-570F-4794-84C9-4504271F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4190"/>
            <a:ext cx="5504125" cy="49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190"/>
              </a:lnSpc>
              <a:buNone/>
            </a:pPr>
            <a:r>
              <a:rPr sz="3300" b="1" spc="-99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Алан Толпаров</a:t>
            </a:r>
            <a:endParaRPr sz="3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C86C8D-8B8F-4FE6-ACB0-ECA700D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5685"/>
            <a:ext cx="550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AI Engineer</a:t>
            </a:r>
            <a:endParaRPr sz="2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A06469F-B2EF-42A9-BA9D-35DECDA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3385"/>
            <a:ext cx="5153863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7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Слой данных, движок сигналов, MCP-сервер, агент, API и интерфейс, стенд. Фреймворк проверки, прогоны эталона, тесты.</a:t>
            </a:r>
            <a:endParaRPr sz="2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C4AE954-426F-4A37-8B50-039A0A7E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2398365"/>
            <a:ext cx="500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5730CD0-4C66-4BAE-86B0-AB33AAC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2798415"/>
            <a:ext cx="5504207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02</a:t>
            </a:r>
            <a:endParaRPr sz="19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087729E-BFB0-4F47-9309-4B5FC3E6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3284190"/>
            <a:ext cx="5504207" cy="49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190"/>
              </a:lnSpc>
              <a:buNone/>
            </a:pPr>
            <a:r>
              <a:rPr sz="3300" b="1" spc="-99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Владимир Линьков</a:t>
            </a:r>
            <a:endParaRPr sz="3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B54EB2F-C217-49B3-92D2-EECDA31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3935685"/>
            <a:ext cx="5504207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AI Product</a:t>
            </a:r>
            <a:endParaRPr sz="22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FC9ECAC-3D3A-44AC-A3FA-63757FB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50" y="4583385"/>
            <a:ext cx="5153940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7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Разбор 200 карточек, критерии оценки контрагента и рубрика оценки агента, финальные продуктовые материалы.</a:t>
            </a:r>
            <a:endParaRPr sz="2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2C3449A-5484-46AB-BB98-1716FF2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2398365"/>
            <a:ext cx="500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03CA23F-7FDA-40E9-A304-202865C1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2798415"/>
            <a:ext cx="550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50" b="1" spc="156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03</a:t>
            </a:r>
            <a:endParaRPr sz="19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DBD0F22-6641-47C4-BC24-4081369A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3284190"/>
            <a:ext cx="5504125" cy="49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190"/>
              </a:lnSpc>
              <a:buNone/>
            </a:pPr>
            <a:r>
              <a:rPr sz="3300" b="1" spc="-99">
                <a:solidFill>
                  <a:srgbClr val="000000"/>
                </a:solidFill>
                <a:latin typeface="Golos Text"/>
                <a:ea typeface="Golos Text"/>
                <a:cs typeface="Golos Text"/>
              </a:rPr>
              <a:t>Владимир Тимошенко</a:t>
            </a:r>
            <a:endParaRPr sz="3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5AFEE2F-CC84-4965-9C1B-344E05D1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3935685"/>
            <a:ext cx="550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1">
                <a:solidFill>
                  <a:srgbClr val="767676"/>
                </a:solidFill>
                <a:latin typeface="Golos Text"/>
                <a:ea typeface="Golos Text"/>
                <a:cs typeface="Golos Text"/>
              </a:rPr>
              <a:t>AI Engineer</a:t>
            </a:r>
            <a:endParaRPr sz="22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A394E7-166E-4847-B731-0348DFC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675" y="4583385"/>
            <a:ext cx="5153863" cy="16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667"/>
              </a:lnSpc>
              <a:buNone/>
            </a:pPr>
            <a:r>
              <a:rPr sz="2250">
                <a:solidFill>
                  <a:srgbClr val="333333"/>
                </a:solidFill>
                <a:latin typeface="Golos Text"/>
                <a:ea typeface="Golos Text"/>
                <a:cs typeface="Golos Text"/>
              </a:rPr>
              <a:t>Бизнес-требования кейса и их связь с реализацией, материалы промежуточной сдачи, презентации.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092215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BDB4074-C52A-45B9-9B74-0EF1BBA4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0395"/>
            <a:ext cx="11315700" cy="357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 spc="168">
                <a:solidFill>
                  <a:srgbClr val="EF3124"/>
                </a:solidFill>
                <a:latin typeface="Golos Text"/>
                <a:ea typeface="Golos Text"/>
                <a:cs typeface="Golos Text"/>
              </a:rPr>
              <a:t>ПИЛОТ ВНУТРИ ОТЧЁТА</a:t>
            </a:r>
            <a:endParaRPr sz="2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4AFD2C-CF65-405B-9758-02853C8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0482"/>
            <a:ext cx="11315700" cy="931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309"/>
              </a:lnSpc>
              <a:buNone/>
            </a:pPr>
            <a:r>
              <a:rPr sz="6900" b="1" spc="-207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Что дальше</a:t>
            </a:r>
            <a:endParaRPr sz="6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7B10CD-F65F-435A-97B8-C239DA8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95270"/>
            <a:ext cx="8829675" cy="912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1951"/>
              </a:lnSpc>
              <a:buNone/>
            </a:pPr>
            <a:r>
              <a:rPr sz="255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Встроить агента в страницу проверки контрагента и проверить на реальных клиентах.</a:t>
            </a:r>
            <a:endParaRPr sz="25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DC4C08-D2CE-49ED-8407-5D50EFA4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98235"/>
            <a:ext cx="8829675" cy="912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1951"/>
              </a:lnSpc>
              <a:buNone/>
            </a:pPr>
            <a:r>
              <a:rPr sz="2550">
                <a:solidFill>
                  <a:srgbClr val="D6D6D6"/>
                </a:solidFill>
                <a:latin typeface="Golos Text"/>
                <a:ea typeface="Golos Text"/>
                <a:cs typeface="Golos Text"/>
              </a:rPr>
              <a:t>Для пилота агент должен получать отчёты из самого сервиса банка.</a:t>
            </a:r>
            <a:endParaRPr sz="2550"/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68aa1acd4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0" y="2550691"/>
            <a:ext cx="6096000" cy="52236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501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2026-09-07T10:23:29.7090000Z</dcterms:created>
  <dcterms:modified xsi:type="dcterms:W3CDTF">2026-09-07T10:23:29.7090000Z</dcterms:modified>
</coreProperties>
</file>